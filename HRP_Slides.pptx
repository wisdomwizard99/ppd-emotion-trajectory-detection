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9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71" r:id="rId13"/>
    <p:sldId id="270" r:id="rId14"/>
    <p:sldId id="267" r:id="rId15"/>
    <p:sldId id="27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29E9B8-BE67-4931-BBC7-80CDE3EA77A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12A8DE4-EDEE-40CF-AE13-67502DFD1631}">
      <dgm:prSet/>
      <dgm:spPr/>
      <dgm:t>
        <a:bodyPr/>
        <a:lstStyle/>
        <a:p>
          <a:r>
            <a:rPr lang="en-US" b="0" i="0" baseline="0"/>
            <a:t>The risk model effectively flagged high-risk posts with stable negative emotions and crisis keywords.</a:t>
          </a:r>
          <a:endParaRPr lang="en-US"/>
        </a:p>
      </dgm:t>
    </dgm:pt>
    <dgm:pt modelId="{621626B2-0AAD-48D1-BBC4-1591BF078774}" type="parTrans" cxnId="{04DC1BC8-AE8A-487B-87A0-584C686BD06C}">
      <dgm:prSet/>
      <dgm:spPr/>
      <dgm:t>
        <a:bodyPr/>
        <a:lstStyle/>
        <a:p>
          <a:endParaRPr lang="en-US"/>
        </a:p>
      </dgm:t>
    </dgm:pt>
    <dgm:pt modelId="{8F3A41CA-B20F-4780-A2E8-323A1A8AA46B}" type="sibTrans" cxnId="{04DC1BC8-AE8A-487B-87A0-584C686BD06C}">
      <dgm:prSet/>
      <dgm:spPr/>
      <dgm:t>
        <a:bodyPr/>
        <a:lstStyle/>
        <a:p>
          <a:endParaRPr lang="en-US"/>
        </a:p>
      </dgm:t>
    </dgm:pt>
    <dgm:pt modelId="{A17863F8-088F-42EB-88BD-9EB896CC473C}">
      <dgm:prSet/>
      <dgm:spPr/>
      <dgm:t>
        <a:bodyPr/>
        <a:lstStyle/>
        <a:p>
          <a:r>
            <a:rPr lang="en-US" b="0" i="0" baseline="0"/>
            <a:t>Hopeful reframing lowered risk scores in some posts, supporting cognitive behavioral therapy ideas.</a:t>
          </a:r>
          <a:endParaRPr lang="en-US"/>
        </a:p>
      </dgm:t>
    </dgm:pt>
    <dgm:pt modelId="{B46D4DAD-A08E-4B1B-9B07-1B1BC021D016}" type="parTrans" cxnId="{B6BE30BE-A1AE-42F0-A04F-E3EBFC8A2115}">
      <dgm:prSet/>
      <dgm:spPr/>
      <dgm:t>
        <a:bodyPr/>
        <a:lstStyle/>
        <a:p>
          <a:endParaRPr lang="en-US"/>
        </a:p>
      </dgm:t>
    </dgm:pt>
    <dgm:pt modelId="{818597E3-A71E-406C-9545-2519490014C0}" type="sibTrans" cxnId="{B6BE30BE-A1AE-42F0-A04F-E3EBFC8A2115}">
      <dgm:prSet/>
      <dgm:spPr/>
      <dgm:t>
        <a:bodyPr/>
        <a:lstStyle/>
        <a:p>
          <a:endParaRPr lang="en-US"/>
        </a:p>
      </dgm:t>
    </dgm:pt>
    <dgm:pt modelId="{A0BA7F69-26D1-4582-B191-5F04B0CFED4E}">
      <dgm:prSet/>
      <dgm:spPr/>
      <dgm:t>
        <a:bodyPr/>
        <a:lstStyle/>
        <a:p>
          <a:r>
            <a:rPr lang="en-US" b="0" i="0" baseline="0"/>
            <a:t>Posts with explicit suicidal language remained high risk, ensuring safety.</a:t>
          </a:r>
          <a:endParaRPr lang="en-US"/>
        </a:p>
      </dgm:t>
    </dgm:pt>
    <dgm:pt modelId="{0CB48D16-A0D2-4E36-9952-1CC77F11C437}" type="parTrans" cxnId="{5C2EF3BD-6262-4F62-82DA-8D06D4899592}">
      <dgm:prSet/>
      <dgm:spPr/>
      <dgm:t>
        <a:bodyPr/>
        <a:lstStyle/>
        <a:p>
          <a:endParaRPr lang="en-US"/>
        </a:p>
      </dgm:t>
    </dgm:pt>
    <dgm:pt modelId="{2B4F8A0C-23CC-4AB1-BEC4-E23CD5A0F6FF}" type="sibTrans" cxnId="{5C2EF3BD-6262-4F62-82DA-8D06D4899592}">
      <dgm:prSet/>
      <dgm:spPr/>
      <dgm:t>
        <a:bodyPr/>
        <a:lstStyle/>
        <a:p>
          <a:endParaRPr lang="en-US"/>
        </a:p>
      </dgm:t>
    </dgm:pt>
    <dgm:pt modelId="{92F37870-8D1A-4773-BB32-7AF8511D808A}">
      <dgm:prSet/>
      <dgm:spPr/>
      <dgm:t>
        <a:bodyPr/>
        <a:lstStyle/>
        <a:p>
          <a:r>
            <a:rPr lang="en-US" b="0" i="0" baseline="0"/>
            <a:t>Emotion arc classifier achieved 55% accuracy; stable emotions were easier to detect than emotional shifts.</a:t>
          </a:r>
          <a:endParaRPr lang="en-US"/>
        </a:p>
      </dgm:t>
    </dgm:pt>
    <dgm:pt modelId="{B92C497C-DC74-4E3E-8CE6-CEC925569B27}" type="parTrans" cxnId="{454D20DA-688A-40A7-92C0-CD768ED449D6}">
      <dgm:prSet/>
      <dgm:spPr/>
      <dgm:t>
        <a:bodyPr/>
        <a:lstStyle/>
        <a:p>
          <a:endParaRPr lang="en-US"/>
        </a:p>
      </dgm:t>
    </dgm:pt>
    <dgm:pt modelId="{1A17D93E-6D71-4020-AEB7-AB8289B7CED5}" type="sibTrans" cxnId="{454D20DA-688A-40A7-92C0-CD768ED449D6}">
      <dgm:prSet/>
      <dgm:spPr/>
      <dgm:t>
        <a:bodyPr/>
        <a:lstStyle/>
        <a:p>
          <a:endParaRPr lang="en-US"/>
        </a:p>
      </dgm:t>
    </dgm:pt>
    <dgm:pt modelId="{E7DF904C-67E2-41CA-90AF-3FB0A4AA3AA7}">
      <dgm:prSet/>
      <dgm:spPr/>
      <dgm:t>
        <a:bodyPr/>
        <a:lstStyle/>
        <a:p>
          <a:r>
            <a:rPr lang="en-US" b="0" i="0" baseline="0"/>
            <a:t>Key positive emotional shifts (“turning points”) appeared mid-post, offering intervention opportunities.</a:t>
          </a:r>
          <a:endParaRPr lang="en-US"/>
        </a:p>
      </dgm:t>
    </dgm:pt>
    <dgm:pt modelId="{48CAD0F7-CB4F-4E72-9D28-71CA6B37FE16}" type="parTrans" cxnId="{8B549475-05D1-433C-89FC-D39C93ECD987}">
      <dgm:prSet/>
      <dgm:spPr/>
      <dgm:t>
        <a:bodyPr/>
        <a:lstStyle/>
        <a:p>
          <a:endParaRPr lang="en-US"/>
        </a:p>
      </dgm:t>
    </dgm:pt>
    <dgm:pt modelId="{CFED2C0E-BE4E-4B33-81B1-724639ECC8E1}" type="sibTrans" cxnId="{8B549475-05D1-433C-89FC-D39C93ECD987}">
      <dgm:prSet/>
      <dgm:spPr/>
      <dgm:t>
        <a:bodyPr/>
        <a:lstStyle/>
        <a:p>
          <a:endParaRPr lang="en-US"/>
        </a:p>
      </dgm:t>
    </dgm:pt>
    <dgm:pt modelId="{5820897C-6FB2-440D-B54D-B143C72A854C}">
      <dgm:prSet/>
      <dgm:spPr/>
      <dgm:t>
        <a:bodyPr/>
        <a:lstStyle/>
        <a:p>
          <a:r>
            <a:rPr lang="en-US" b="0" i="0" baseline="0" dirty="0"/>
            <a:t>Causal analysis found a small, uncertain risk reduction from shifting emotions toward positivity, driven mainly by sadness, joy, and fear.</a:t>
          </a:r>
          <a:endParaRPr lang="en-US" dirty="0"/>
        </a:p>
      </dgm:t>
    </dgm:pt>
    <dgm:pt modelId="{BADF37DF-F862-4C4B-92E5-3D62E88D1C44}" type="parTrans" cxnId="{66267828-AFB1-4070-8C90-FC96FA522CDF}">
      <dgm:prSet/>
      <dgm:spPr/>
      <dgm:t>
        <a:bodyPr/>
        <a:lstStyle/>
        <a:p>
          <a:endParaRPr lang="en-US"/>
        </a:p>
      </dgm:t>
    </dgm:pt>
    <dgm:pt modelId="{231F4795-531B-46AD-AAE4-BB9401D52C4E}" type="sibTrans" cxnId="{66267828-AFB1-4070-8C90-FC96FA522CDF}">
      <dgm:prSet/>
      <dgm:spPr/>
      <dgm:t>
        <a:bodyPr/>
        <a:lstStyle/>
        <a:p>
          <a:endParaRPr lang="en-US"/>
        </a:p>
      </dgm:t>
    </dgm:pt>
    <dgm:pt modelId="{9A7A5BA0-2AD6-4D17-BF80-BD053CAB837A}" type="pres">
      <dgm:prSet presAssocID="{AF29E9B8-BE67-4931-BBC7-80CDE3EA77AE}" presName="diagram" presStyleCnt="0">
        <dgm:presLayoutVars>
          <dgm:dir/>
          <dgm:resizeHandles val="exact"/>
        </dgm:presLayoutVars>
      </dgm:prSet>
      <dgm:spPr/>
    </dgm:pt>
    <dgm:pt modelId="{D32E682A-6A62-47AA-8B92-882D2E526C83}" type="pres">
      <dgm:prSet presAssocID="{012A8DE4-EDEE-40CF-AE13-67502DFD1631}" presName="node" presStyleLbl="node1" presStyleIdx="0" presStyleCnt="6">
        <dgm:presLayoutVars>
          <dgm:bulletEnabled val="1"/>
        </dgm:presLayoutVars>
      </dgm:prSet>
      <dgm:spPr/>
    </dgm:pt>
    <dgm:pt modelId="{7FAE9E60-3E44-41B7-9ACD-BBEA44490127}" type="pres">
      <dgm:prSet presAssocID="{8F3A41CA-B20F-4780-A2E8-323A1A8AA46B}" presName="sibTrans" presStyleCnt="0"/>
      <dgm:spPr/>
    </dgm:pt>
    <dgm:pt modelId="{7F628853-A5BD-47A7-8B06-291C63CD1160}" type="pres">
      <dgm:prSet presAssocID="{A17863F8-088F-42EB-88BD-9EB896CC473C}" presName="node" presStyleLbl="node1" presStyleIdx="1" presStyleCnt="6">
        <dgm:presLayoutVars>
          <dgm:bulletEnabled val="1"/>
        </dgm:presLayoutVars>
      </dgm:prSet>
      <dgm:spPr/>
    </dgm:pt>
    <dgm:pt modelId="{F9E9A051-09D5-402D-9CB1-CFD231447A77}" type="pres">
      <dgm:prSet presAssocID="{818597E3-A71E-406C-9545-2519490014C0}" presName="sibTrans" presStyleCnt="0"/>
      <dgm:spPr/>
    </dgm:pt>
    <dgm:pt modelId="{209CDED0-83A8-4C95-AC49-34ED4B2DF873}" type="pres">
      <dgm:prSet presAssocID="{A0BA7F69-26D1-4582-B191-5F04B0CFED4E}" presName="node" presStyleLbl="node1" presStyleIdx="2" presStyleCnt="6">
        <dgm:presLayoutVars>
          <dgm:bulletEnabled val="1"/>
        </dgm:presLayoutVars>
      </dgm:prSet>
      <dgm:spPr/>
    </dgm:pt>
    <dgm:pt modelId="{947CDD67-E424-460A-A6D2-029436E2B413}" type="pres">
      <dgm:prSet presAssocID="{2B4F8A0C-23CC-4AB1-BEC4-E23CD5A0F6FF}" presName="sibTrans" presStyleCnt="0"/>
      <dgm:spPr/>
    </dgm:pt>
    <dgm:pt modelId="{560FAAB9-5144-4329-8590-DFA85CE1CAF6}" type="pres">
      <dgm:prSet presAssocID="{92F37870-8D1A-4773-BB32-7AF8511D808A}" presName="node" presStyleLbl="node1" presStyleIdx="3" presStyleCnt="6">
        <dgm:presLayoutVars>
          <dgm:bulletEnabled val="1"/>
        </dgm:presLayoutVars>
      </dgm:prSet>
      <dgm:spPr/>
    </dgm:pt>
    <dgm:pt modelId="{878E542E-9B75-46AF-A949-2DDB7F5EDA55}" type="pres">
      <dgm:prSet presAssocID="{1A17D93E-6D71-4020-AEB7-AB8289B7CED5}" presName="sibTrans" presStyleCnt="0"/>
      <dgm:spPr/>
    </dgm:pt>
    <dgm:pt modelId="{3F31512D-66C7-43C4-8E20-E339E2BB588D}" type="pres">
      <dgm:prSet presAssocID="{E7DF904C-67E2-41CA-90AF-3FB0A4AA3AA7}" presName="node" presStyleLbl="node1" presStyleIdx="4" presStyleCnt="6">
        <dgm:presLayoutVars>
          <dgm:bulletEnabled val="1"/>
        </dgm:presLayoutVars>
      </dgm:prSet>
      <dgm:spPr/>
    </dgm:pt>
    <dgm:pt modelId="{D2749098-3C53-4CC0-841C-34EB137BC659}" type="pres">
      <dgm:prSet presAssocID="{CFED2C0E-BE4E-4B33-81B1-724639ECC8E1}" presName="sibTrans" presStyleCnt="0"/>
      <dgm:spPr/>
    </dgm:pt>
    <dgm:pt modelId="{6108FC0E-2916-4E5B-B111-052C96A1FDF6}" type="pres">
      <dgm:prSet presAssocID="{5820897C-6FB2-440D-B54D-B143C72A854C}" presName="node" presStyleLbl="node1" presStyleIdx="5" presStyleCnt="6">
        <dgm:presLayoutVars>
          <dgm:bulletEnabled val="1"/>
        </dgm:presLayoutVars>
      </dgm:prSet>
      <dgm:spPr/>
    </dgm:pt>
  </dgm:ptLst>
  <dgm:cxnLst>
    <dgm:cxn modelId="{2B723702-9BF8-401C-A5A9-EC231111742B}" type="presOf" srcId="{A17863F8-088F-42EB-88BD-9EB896CC473C}" destId="{7F628853-A5BD-47A7-8B06-291C63CD1160}" srcOrd="0" destOrd="0" presId="urn:microsoft.com/office/officeart/2005/8/layout/default"/>
    <dgm:cxn modelId="{9EB5D00B-1A1D-4561-BA4D-E42C6779E66A}" type="presOf" srcId="{012A8DE4-EDEE-40CF-AE13-67502DFD1631}" destId="{D32E682A-6A62-47AA-8B92-882D2E526C83}" srcOrd="0" destOrd="0" presId="urn:microsoft.com/office/officeart/2005/8/layout/default"/>
    <dgm:cxn modelId="{66267828-AFB1-4070-8C90-FC96FA522CDF}" srcId="{AF29E9B8-BE67-4931-BBC7-80CDE3EA77AE}" destId="{5820897C-6FB2-440D-B54D-B143C72A854C}" srcOrd="5" destOrd="0" parTransId="{BADF37DF-F862-4C4B-92E5-3D62E88D1C44}" sibTransId="{231F4795-531B-46AD-AAE4-BB9401D52C4E}"/>
    <dgm:cxn modelId="{FE89602C-2CD6-4A07-BC78-0DA36FCB7705}" type="presOf" srcId="{AF29E9B8-BE67-4931-BBC7-80CDE3EA77AE}" destId="{9A7A5BA0-2AD6-4D17-BF80-BD053CAB837A}" srcOrd="0" destOrd="0" presId="urn:microsoft.com/office/officeart/2005/8/layout/default"/>
    <dgm:cxn modelId="{E30B2267-310F-488F-A0D8-EC207F97723F}" type="presOf" srcId="{E7DF904C-67E2-41CA-90AF-3FB0A4AA3AA7}" destId="{3F31512D-66C7-43C4-8E20-E339E2BB588D}" srcOrd="0" destOrd="0" presId="urn:microsoft.com/office/officeart/2005/8/layout/default"/>
    <dgm:cxn modelId="{3C95B04E-2F5A-47A1-A50B-C3BF5CE17782}" type="presOf" srcId="{92F37870-8D1A-4773-BB32-7AF8511D808A}" destId="{560FAAB9-5144-4329-8590-DFA85CE1CAF6}" srcOrd="0" destOrd="0" presId="urn:microsoft.com/office/officeart/2005/8/layout/default"/>
    <dgm:cxn modelId="{8B549475-05D1-433C-89FC-D39C93ECD987}" srcId="{AF29E9B8-BE67-4931-BBC7-80CDE3EA77AE}" destId="{E7DF904C-67E2-41CA-90AF-3FB0A4AA3AA7}" srcOrd="4" destOrd="0" parTransId="{48CAD0F7-CB4F-4E72-9D28-71CA6B37FE16}" sibTransId="{CFED2C0E-BE4E-4B33-81B1-724639ECC8E1}"/>
    <dgm:cxn modelId="{37B76585-2565-46FC-B6E3-079DB24F4689}" type="presOf" srcId="{A0BA7F69-26D1-4582-B191-5F04B0CFED4E}" destId="{209CDED0-83A8-4C95-AC49-34ED4B2DF873}" srcOrd="0" destOrd="0" presId="urn:microsoft.com/office/officeart/2005/8/layout/default"/>
    <dgm:cxn modelId="{5C2EF3BD-6262-4F62-82DA-8D06D4899592}" srcId="{AF29E9B8-BE67-4931-BBC7-80CDE3EA77AE}" destId="{A0BA7F69-26D1-4582-B191-5F04B0CFED4E}" srcOrd="2" destOrd="0" parTransId="{0CB48D16-A0D2-4E36-9952-1CC77F11C437}" sibTransId="{2B4F8A0C-23CC-4AB1-BEC4-E23CD5A0F6FF}"/>
    <dgm:cxn modelId="{B6BE30BE-A1AE-42F0-A04F-E3EBFC8A2115}" srcId="{AF29E9B8-BE67-4931-BBC7-80CDE3EA77AE}" destId="{A17863F8-088F-42EB-88BD-9EB896CC473C}" srcOrd="1" destOrd="0" parTransId="{B46D4DAD-A08E-4B1B-9B07-1B1BC021D016}" sibTransId="{818597E3-A71E-406C-9545-2519490014C0}"/>
    <dgm:cxn modelId="{04DC1BC8-AE8A-487B-87A0-584C686BD06C}" srcId="{AF29E9B8-BE67-4931-BBC7-80CDE3EA77AE}" destId="{012A8DE4-EDEE-40CF-AE13-67502DFD1631}" srcOrd="0" destOrd="0" parTransId="{621626B2-0AAD-48D1-BBC4-1591BF078774}" sibTransId="{8F3A41CA-B20F-4780-A2E8-323A1A8AA46B}"/>
    <dgm:cxn modelId="{454D20DA-688A-40A7-92C0-CD768ED449D6}" srcId="{AF29E9B8-BE67-4931-BBC7-80CDE3EA77AE}" destId="{92F37870-8D1A-4773-BB32-7AF8511D808A}" srcOrd="3" destOrd="0" parTransId="{B92C497C-DC74-4E3E-8CE6-CEC925569B27}" sibTransId="{1A17D93E-6D71-4020-AEB7-AB8289B7CED5}"/>
    <dgm:cxn modelId="{86FEF8EF-E471-4EFC-A35F-0AC69D4622BD}" type="presOf" srcId="{5820897C-6FB2-440D-B54D-B143C72A854C}" destId="{6108FC0E-2916-4E5B-B111-052C96A1FDF6}" srcOrd="0" destOrd="0" presId="urn:microsoft.com/office/officeart/2005/8/layout/default"/>
    <dgm:cxn modelId="{4226996E-14BC-4DF6-8163-C401DEF1E6AB}" type="presParOf" srcId="{9A7A5BA0-2AD6-4D17-BF80-BD053CAB837A}" destId="{D32E682A-6A62-47AA-8B92-882D2E526C83}" srcOrd="0" destOrd="0" presId="urn:microsoft.com/office/officeart/2005/8/layout/default"/>
    <dgm:cxn modelId="{5078AD68-9D51-41A1-B71E-9C6C8848175F}" type="presParOf" srcId="{9A7A5BA0-2AD6-4D17-BF80-BD053CAB837A}" destId="{7FAE9E60-3E44-41B7-9ACD-BBEA44490127}" srcOrd="1" destOrd="0" presId="urn:microsoft.com/office/officeart/2005/8/layout/default"/>
    <dgm:cxn modelId="{8F25649C-2A30-4A41-AB9A-FB97A7DF2202}" type="presParOf" srcId="{9A7A5BA0-2AD6-4D17-BF80-BD053CAB837A}" destId="{7F628853-A5BD-47A7-8B06-291C63CD1160}" srcOrd="2" destOrd="0" presId="urn:microsoft.com/office/officeart/2005/8/layout/default"/>
    <dgm:cxn modelId="{EF217020-538E-4C5A-AA25-33B1AD8A59C7}" type="presParOf" srcId="{9A7A5BA0-2AD6-4D17-BF80-BD053CAB837A}" destId="{F9E9A051-09D5-402D-9CB1-CFD231447A77}" srcOrd="3" destOrd="0" presId="urn:microsoft.com/office/officeart/2005/8/layout/default"/>
    <dgm:cxn modelId="{2E3F90EC-E403-428C-8BA8-02B895CC3432}" type="presParOf" srcId="{9A7A5BA0-2AD6-4D17-BF80-BD053CAB837A}" destId="{209CDED0-83A8-4C95-AC49-34ED4B2DF873}" srcOrd="4" destOrd="0" presId="urn:microsoft.com/office/officeart/2005/8/layout/default"/>
    <dgm:cxn modelId="{14581C72-9B33-4716-8B08-7031EFDF49C8}" type="presParOf" srcId="{9A7A5BA0-2AD6-4D17-BF80-BD053CAB837A}" destId="{947CDD67-E424-460A-A6D2-029436E2B413}" srcOrd="5" destOrd="0" presId="urn:microsoft.com/office/officeart/2005/8/layout/default"/>
    <dgm:cxn modelId="{682AB8EC-7F47-450A-91B5-DAB3D5B1C8B3}" type="presParOf" srcId="{9A7A5BA0-2AD6-4D17-BF80-BD053CAB837A}" destId="{560FAAB9-5144-4329-8590-DFA85CE1CAF6}" srcOrd="6" destOrd="0" presId="urn:microsoft.com/office/officeart/2005/8/layout/default"/>
    <dgm:cxn modelId="{52604FA2-75E6-4BE3-BC7C-F2B9A8C28D6D}" type="presParOf" srcId="{9A7A5BA0-2AD6-4D17-BF80-BD053CAB837A}" destId="{878E542E-9B75-46AF-A949-2DDB7F5EDA55}" srcOrd="7" destOrd="0" presId="urn:microsoft.com/office/officeart/2005/8/layout/default"/>
    <dgm:cxn modelId="{841969FF-C3B2-45C1-949A-57474A85432D}" type="presParOf" srcId="{9A7A5BA0-2AD6-4D17-BF80-BD053CAB837A}" destId="{3F31512D-66C7-43C4-8E20-E339E2BB588D}" srcOrd="8" destOrd="0" presId="urn:microsoft.com/office/officeart/2005/8/layout/default"/>
    <dgm:cxn modelId="{5B77DF6A-8F09-4091-A123-F349758F3733}" type="presParOf" srcId="{9A7A5BA0-2AD6-4D17-BF80-BD053CAB837A}" destId="{D2749098-3C53-4CC0-841C-34EB137BC659}" srcOrd="9" destOrd="0" presId="urn:microsoft.com/office/officeart/2005/8/layout/default"/>
    <dgm:cxn modelId="{76DAE7EB-7317-4A24-B758-19A5427A2EF5}" type="presParOf" srcId="{9A7A5BA0-2AD6-4D17-BF80-BD053CAB837A}" destId="{6108FC0E-2916-4E5B-B111-052C96A1FDF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329D90-DCE2-4C70-97DF-957EC5AF0B8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DDD187-C333-4746-9E94-9E0617FD2260}">
      <dgm:prSet/>
      <dgm:spPr/>
      <dgm:t>
        <a:bodyPr/>
        <a:lstStyle/>
        <a:p>
          <a:r>
            <a:rPr lang="en-US" b="0" i="0" baseline="0"/>
            <a:t>Sentence-level emotion trajectories combined with rule-based keyword models show strong potential for early detection of postpartum depression risk.</a:t>
          </a:r>
          <a:endParaRPr lang="en-US"/>
        </a:p>
      </dgm:t>
    </dgm:pt>
    <dgm:pt modelId="{D5DE26C4-A162-40B7-B85E-D3D5D5346673}" type="parTrans" cxnId="{3B2076DB-E25F-48DC-AA43-A9AC61A85C8F}">
      <dgm:prSet/>
      <dgm:spPr/>
      <dgm:t>
        <a:bodyPr/>
        <a:lstStyle/>
        <a:p>
          <a:endParaRPr lang="en-US"/>
        </a:p>
      </dgm:t>
    </dgm:pt>
    <dgm:pt modelId="{A66248FD-A7E1-41FC-8A46-E3D10ACB3456}" type="sibTrans" cxnId="{3B2076DB-E25F-48DC-AA43-A9AC61A85C8F}">
      <dgm:prSet/>
      <dgm:spPr/>
      <dgm:t>
        <a:bodyPr/>
        <a:lstStyle/>
        <a:p>
          <a:endParaRPr lang="en-US"/>
        </a:p>
      </dgm:t>
    </dgm:pt>
    <dgm:pt modelId="{FAE66A24-8E90-424E-B2E5-E3BB1B3F7E91}">
      <dgm:prSet/>
      <dgm:spPr/>
      <dgm:t>
        <a:bodyPr/>
        <a:lstStyle/>
        <a:p>
          <a:r>
            <a:rPr lang="en-US" b="0" i="0" baseline="0"/>
            <a:t>Emotion arcs provide an interpretable view of emotional patterns and moderately align with human annotations.</a:t>
          </a:r>
          <a:endParaRPr lang="en-US"/>
        </a:p>
      </dgm:t>
    </dgm:pt>
    <dgm:pt modelId="{6FB9C5C4-EF6E-4589-B141-EE0172A5019C}" type="parTrans" cxnId="{484E3E02-1693-45EE-8F6C-3115D781B28A}">
      <dgm:prSet/>
      <dgm:spPr/>
      <dgm:t>
        <a:bodyPr/>
        <a:lstStyle/>
        <a:p>
          <a:endParaRPr lang="en-US"/>
        </a:p>
      </dgm:t>
    </dgm:pt>
    <dgm:pt modelId="{92EEDCB8-40FF-48E5-8672-72200FBA3F8C}" type="sibTrans" cxnId="{484E3E02-1693-45EE-8F6C-3115D781B28A}">
      <dgm:prSet/>
      <dgm:spPr/>
      <dgm:t>
        <a:bodyPr/>
        <a:lstStyle/>
        <a:p>
          <a:endParaRPr lang="en-US"/>
        </a:p>
      </dgm:t>
    </dgm:pt>
    <dgm:pt modelId="{C305B143-BFE6-4EF2-AC1E-FF8D1621C97F}">
      <dgm:prSet/>
      <dgm:spPr/>
      <dgm:t>
        <a:bodyPr/>
        <a:lstStyle/>
        <a:p>
          <a:r>
            <a:rPr lang="en-US" b="0" i="0" baseline="0"/>
            <a:t>The system effectively identifies high-risk posts, particularly those with persistent negativity or explicit distress.</a:t>
          </a:r>
          <a:endParaRPr lang="en-US"/>
        </a:p>
      </dgm:t>
    </dgm:pt>
    <dgm:pt modelId="{93DE4164-18B6-4333-97A8-450AA457DAA3}" type="parTrans" cxnId="{2F589047-189A-4743-A619-8515D483FBA2}">
      <dgm:prSet/>
      <dgm:spPr/>
      <dgm:t>
        <a:bodyPr/>
        <a:lstStyle/>
        <a:p>
          <a:endParaRPr lang="en-US"/>
        </a:p>
      </dgm:t>
    </dgm:pt>
    <dgm:pt modelId="{1F2F6272-F296-4819-BF0E-364B54FD6807}" type="sibTrans" cxnId="{2F589047-189A-4743-A619-8515D483FBA2}">
      <dgm:prSet/>
      <dgm:spPr/>
      <dgm:t>
        <a:bodyPr/>
        <a:lstStyle/>
        <a:p>
          <a:endParaRPr lang="en-US"/>
        </a:p>
      </dgm:t>
    </dgm:pt>
    <dgm:pt modelId="{D630E2E5-6418-477E-A193-E9A7439EDBD9}">
      <dgm:prSet/>
      <dgm:spPr/>
      <dgm:t>
        <a:bodyPr/>
        <a:lstStyle/>
        <a:p>
          <a:r>
            <a:rPr lang="en-US" b="0" i="0" baseline="0"/>
            <a:t>Simulated shifts toward positive language can lower predicted risk, emphasizing the role of emotional tone in screening.</a:t>
          </a:r>
          <a:endParaRPr lang="en-US"/>
        </a:p>
      </dgm:t>
    </dgm:pt>
    <dgm:pt modelId="{DB81399D-4FCE-4B70-9A49-1FFB695ADC09}" type="parTrans" cxnId="{1CF88FAE-8792-47E6-ADF9-621C898605A6}">
      <dgm:prSet/>
      <dgm:spPr/>
      <dgm:t>
        <a:bodyPr/>
        <a:lstStyle/>
        <a:p>
          <a:endParaRPr lang="en-US"/>
        </a:p>
      </dgm:t>
    </dgm:pt>
    <dgm:pt modelId="{3588CA28-B2F0-442B-9FCB-6E0E751D537C}" type="sibTrans" cxnId="{1CF88FAE-8792-47E6-ADF9-621C898605A6}">
      <dgm:prSet/>
      <dgm:spPr/>
      <dgm:t>
        <a:bodyPr/>
        <a:lstStyle/>
        <a:p>
          <a:endParaRPr lang="en-US"/>
        </a:p>
      </dgm:t>
    </dgm:pt>
    <dgm:pt modelId="{4C478D55-3E01-4628-9620-CFAFEA8C1E8B}">
      <dgm:prSet/>
      <dgm:spPr/>
      <dgm:t>
        <a:bodyPr/>
        <a:lstStyle/>
        <a:p>
          <a:r>
            <a:rPr lang="en-US" b="0" i="0" baseline="0"/>
            <a:t>Incorporating causal inference enables personalized insights, helping target individuals who benefit most from emotional improvement.</a:t>
          </a:r>
          <a:endParaRPr lang="en-US"/>
        </a:p>
      </dgm:t>
    </dgm:pt>
    <dgm:pt modelId="{857D5BAE-0D80-41F4-B772-FBCE755522AD}" type="parTrans" cxnId="{430BA14A-6954-49E0-83BD-307F3ACE689E}">
      <dgm:prSet/>
      <dgm:spPr/>
      <dgm:t>
        <a:bodyPr/>
        <a:lstStyle/>
        <a:p>
          <a:endParaRPr lang="en-US"/>
        </a:p>
      </dgm:t>
    </dgm:pt>
    <dgm:pt modelId="{D316ED16-6875-4DAE-A746-14DBD084AD45}" type="sibTrans" cxnId="{430BA14A-6954-49E0-83BD-307F3ACE689E}">
      <dgm:prSet/>
      <dgm:spPr/>
      <dgm:t>
        <a:bodyPr/>
        <a:lstStyle/>
        <a:p>
          <a:endParaRPr lang="en-US"/>
        </a:p>
      </dgm:t>
    </dgm:pt>
    <dgm:pt modelId="{488D357E-CF37-4CFC-A724-B8DF5EC97816}" type="pres">
      <dgm:prSet presAssocID="{C8329D90-DCE2-4C70-97DF-957EC5AF0B80}" presName="linear" presStyleCnt="0">
        <dgm:presLayoutVars>
          <dgm:animLvl val="lvl"/>
          <dgm:resizeHandles val="exact"/>
        </dgm:presLayoutVars>
      </dgm:prSet>
      <dgm:spPr/>
    </dgm:pt>
    <dgm:pt modelId="{9E9DBB4B-87EB-4B45-8DB0-D2CE09D045E9}" type="pres">
      <dgm:prSet presAssocID="{6ADDD187-C333-4746-9E94-9E0617FD226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60A3307-81D1-49FD-BA7D-79BFBFDC8A40}" type="pres">
      <dgm:prSet presAssocID="{A66248FD-A7E1-41FC-8A46-E3D10ACB3456}" presName="spacer" presStyleCnt="0"/>
      <dgm:spPr/>
    </dgm:pt>
    <dgm:pt modelId="{3B7B4E9F-9FDB-4363-B5BC-E62A40557C56}" type="pres">
      <dgm:prSet presAssocID="{FAE66A24-8E90-424E-B2E5-E3BB1B3F7E9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D000154-2C4A-4CC0-8FCD-B4BC96D0991D}" type="pres">
      <dgm:prSet presAssocID="{92EEDCB8-40FF-48E5-8672-72200FBA3F8C}" presName="spacer" presStyleCnt="0"/>
      <dgm:spPr/>
    </dgm:pt>
    <dgm:pt modelId="{917FB8C0-FB17-41CF-9D7C-33DB813AA992}" type="pres">
      <dgm:prSet presAssocID="{C305B143-BFE6-4EF2-AC1E-FF8D1621C97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0C016CA-BFA7-4054-A8EF-A0FE1E1FF6F9}" type="pres">
      <dgm:prSet presAssocID="{1F2F6272-F296-4819-BF0E-364B54FD6807}" presName="spacer" presStyleCnt="0"/>
      <dgm:spPr/>
    </dgm:pt>
    <dgm:pt modelId="{17D73EE7-C005-49FA-9E21-DAC7C3256514}" type="pres">
      <dgm:prSet presAssocID="{D630E2E5-6418-477E-A193-E9A7439EDBD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A188EED-D51D-4218-8C3A-77A0E635B0F7}" type="pres">
      <dgm:prSet presAssocID="{3588CA28-B2F0-442B-9FCB-6E0E751D537C}" presName="spacer" presStyleCnt="0"/>
      <dgm:spPr/>
    </dgm:pt>
    <dgm:pt modelId="{6776A8FC-C7DC-4F55-9FCB-C59D6640AAE7}" type="pres">
      <dgm:prSet presAssocID="{4C478D55-3E01-4628-9620-CFAFEA8C1E8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84E3E02-1693-45EE-8F6C-3115D781B28A}" srcId="{C8329D90-DCE2-4C70-97DF-957EC5AF0B80}" destId="{FAE66A24-8E90-424E-B2E5-E3BB1B3F7E91}" srcOrd="1" destOrd="0" parTransId="{6FB9C5C4-EF6E-4589-B141-EE0172A5019C}" sibTransId="{92EEDCB8-40FF-48E5-8672-72200FBA3F8C}"/>
    <dgm:cxn modelId="{A3168745-E438-42EE-A92E-58C98D76F714}" type="presOf" srcId="{C305B143-BFE6-4EF2-AC1E-FF8D1621C97F}" destId="{917FB8C0-FB17-41CF-9D7C-33DB813AA992}" srcOrd="0" destOrd="0" presId="urn:microsoft.com/office/officeart/2005/8/layout/vList2"/>
    <dgm:cxn modelId="{2F589047-189A-4743-A619-8515D483FBA2}" srcId="{C8329D90-DCE2-4C70-97DF-957EC5AF0B80}" destId="{C305B143-BFE6-4EF2-AC1E-FF8D1621C97F}" srcOrd="2" destOrd="0" parTransId="{93DE4164-18B6-4333-97A8-450AA457DAA3}" sibTransId="{1F2F6272-F296-4819-BF0E-364B54FD6807}"/>
    <dgm:cxn modelId="{5A5DB548-1B4A-4701-8B86-75F7D99F4B2B}" type="presOf" srcId="{4C478D55-3E01-4628-9620-CFAFEA8C1E8B}" destId="{6776A8FC-C7DC-4F55-9FCB-C59D6640AAE7}" srcOrd="0" destOrd="0" presId="urn:microsoft.com/office/officeart/2005/8/layout/vList2"/>
    <dgm:cxn modelId="{430BA14A-6954-49E0-83BD-307F3ACE689E}" srcId="{C8329D90-DCE2-4C70-97DF-957EC5AF0B80}" destId="{4C478D55-3E01-4628-9620-CFAFEA8C1E8B}" srcOrd="4" destOrd="0" parTransId="{857D5BAE-0D80-41F4-B772-FBCE755522AD}" sibTransId="{D316ED16-6875-4DAE-A746-14DBD084AD45}"/>
    <dgm:cxn modelId="{9A2F276E-3E9F-47DD-A377-209D77A7F89E}" type="presOf" srcId="{C8329D90-DCE2-4C70-97DF-957EC5AF0B80}" destId="{488D357E-CF37-4CFC-A724-B8DF5EC97816}" srcOrd="0" destOrd="0" presId="urn:microsoft.com/office/officeart/2005/8/layout/vList2"/>
    <dgm:cxn modelId="{1CF88FAE-8792-47E6-ADF9-621C898605A6}" srcId="{C8329D90-DCE2-4C70-97DF-957EC5AF0B80}" destId="{D630E2E5-6418-477E-A193-E9A7439EDBD9}" srcOrd="3" destOrd="0" parTransId="{DB81399D-4FCE-4B70-9A49-1FFB695ADC09}" sibTransId="{3588CA28-B2F0-442B-9FCB-6E0E751D537C}"/>
    <dgm:cxn modelId="{4EF9B7B1-1336-4BC6-A427-9E8C68E3A70A}" type="presOf" srcId="{6ADDD187-C333-4746-9E94-9E0617FD2260}" destId="{9E9DBB4B-87EB-4B45-8DB0-D2CE09D045E9}" srcOrd="0" destOrd="0" presId="urn:microsoft.com/office/officeart/2005/8/layout/vList2"/>
    <dgm:cxn modelId="{322DBCB9-7BE7-4CCF-8C60-7695D094CDD7}" type="presOf" srcId="{D630E2E5-6418-477E-A193-E9A7439EDBD9}" destId="{17D73EE7-C005-49FA-9E21-DAC7C3256514}" srcOrd="0" destOrd="0" presId="urn:microsoft.com/office/officeart/2005/8/layout/vList2"/>
    <dgm:cxn modelId="{46AFDCD6-8069-4DD9-AD03-C64488656B13}" type="presOf" srcId="{FAE66A24-8E90-424E-B2E5-E3BB1B3F7E91}" destId="{3B7B4E9F-9FDB-4363-B5BC-E62A40557C56}" srcOrd="0" destOrd="0" presId="urn:microsoft.com/office/officeart/2005/8/layout/vList2"/>
    <dgm:cxn modelId="{3B2076DB-E25F-48DC-AA43-A9AC61A85C8F}" srcId="{C8329D90-DCE2-4C70-97DF-957EC5AF0B80}" destId="{6ADDD187-C333-4746-9E94-9E0617FD2260}" srcOrd="0" destOrd="0" parTransId="{D5DE26C4-A162-40B7-B85E-D3D5D5346673}" sibTransId="{A66248FD-A7E1-41FC-8A46-E3D10ACB3456}"/>
    <dgm:cxn modelId="{21DBB897-5D2D-439E-AE8A-A60BC1BEDF44}" type="presParOf" srcId="{488D357E-CF37-4CFC-A724-B8DF5EC97816}" destId="{9E9DBB4B-87EB-4B45-8DB0-D2CE09D045E9}" srcOrd="0" destOrd="0" presId="urn:microsoft.com/office/officeart/2005/8/layout/vList2"/>
    <dgm:cxn modelId="{2300DD85-F7D3-452F-B668-052781DA0ADE}" type="presParOf" srcId="{488D357E-CF37-4CFC-A724-B8DF5EC97816}" destId="{860A3307-81D1-49FD-BA7D-79BFBFDC8A40}" srcOrd="1" destOrd="0" presId="urn:microsoft.com/office/officeart/2005/8/layout/vList2"/>
    <dgm:cxn modelId="{AA1AEFAD-35F8-438D-85A6-E527AF0F58E5}" type="presParOf" srcId="{488D357E-CF37-4CFC-A724-B8DF5EC97816}" destId="{3B7B4E9F-9FDB-4363-B5BC-E62A40557C56}" srcOrd="2" destOrd="0" presId="urn:microsoft.com/office/officeart/2005/8/layout/vList2"/>
    <dgm:cxn modelId="{657AB5CD-A0F0-4761-9B4D-40C40EE8B5B0}" type="presParOf" srcId="{488D357E-CF37-4CFC-A724-B8DF5EC97816}" destId="{8D000154-2C4A-4CC0-8FCD-B4BC96D0991D}" srcOrd="3" destOrd="0" presId="urn:microsoft.com/office/officeart/2005/8/layout/vList2"/>
    <dgm:cxn modelId="{6F10BE6B-9A30-4FD2-8C24-67D9B2C96218}" type="presParOf" srcId="{488D357E-CF37-4CFC-A724-B8DF5EC97816}" destId="{917FB8C0-FB17-41CF-9D7C-33DB813AA992}" srcOrd="4" destOrd="0" presId="urn:microsoft.com/office/officeart/2005/8/layout/vList2"/>
    <dgm:cxn modelId="{CF9DE7D2-2199-4F3C-B238-DAC9569F95BD}" type="presParOf" srcId="{488D357E-CF37-4CFC-A724-B8DF5EC97816}" destId="{30C016CA-BFA7-4054-A8EF-A0FE1E1FF6F9}" srcOrd="5" destOrd="0" presId="urn:microsoft.com/office/officeart/2005/8/layout/vList2"/>
    <dgm:cxn modelId="{F84048CB-019E-4044-A165-EFB6ED737DAC}" type="presParOf" srcId="{488D357E-CF37-4CFC-A724-B8DF5EC97816}" destId="{17D73EE7-C005-49FA-9E21-DAC7C3256514}" srcOrd="6" destOrd="0" presId="urn:microsoft.com/office/officeart/2005/8/layout/vList2"/>
    <dgm:cxn modelId="{DD7ABEC6-8F50-4E3E-8D4E-86CED1F1A1E5}" type="presParOf" srcId="{488D357E-CF37-4CFC-A724-B8DF5EC97816}" destId="{CA188EED-D51D-4218-8C3A-77A0E635B0F7}" srcOrd="7" destOrd="0" presId="urn:microsoft.com/office/officeart/2005/8/layout/vList2"/>
    <dgm:cxn modelId="{F94E979C-810C-40F1-B39F-F08B3F239EC1}" type="presParOf" srcId="{488D357E-CF37-4CFC-A724-B8DF5EC97816}" destId="{6776A8FC-C7DC-4F55-9FCB-C59D6640AAE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61B798-231C-43F2-A002-4A7D6CC745F5}" type="doc">
      <dgm:prSet loTypeId="urn:microsoft.com/office/officeart/2008/layout/LinedList" loCatId="list" qsTypeId="urn:microsoft.com/office/officeart/2005/8/quickstyle/simple2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DE1432F-0E6A-481B-8A8C-B4C3E327E85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Lexicon-Based Emotion Detection:</a:t>
          </a:r>
        </a:p>
        <a:p>
          <a:pPr>
            <a:lnSpc>
              <a:spcPct val="100000"/>
            </a:lnSpc>
          </a:pPr>
          <a:endParaRPr lang="en-US" sz="12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>
            <a:lnSpc>
              <a:spcPct val="100000"/>
            </a:lnSpc>
          </a:pPr>
          <a:r>
            <a: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</a:t>
          </a:r>
          <a:r>
            <a:rPr lang="en-US" sz="14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NRCLex</a:t>
          </a:r>
          <a:r>
            <a: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is lightweight and interpretable, but not robust to : Informal language, sarcasm, idioms, </a:t>
          </a:r>
          <a:r>
            <a:rPr lang="en-US" sz="14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metophors</a:t>
          </a:r>
          <a:r>
            <a: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</a:p>
        <a:p>
          <a:pPr>
            <a:lnSpc>
              <a:spcPct val="100000"/>
            </a:lnSpc>
          </a:pPr>
          <a:r>
            <a: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It leads to misclassification or oversimplification of nuanced posts.</a:t>
          </a:r>
          <a:b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1C7A173-89D4-4734-9DE5-7BE8D165C236}" type="parTrans" cxnId="{9A910398-AC9F-4E20-BEC3-1F7A4513B886}">
      <dgm:prSet/>
      <dgm:spPr/>
      <dgm:t>
        <a:bodyPr/>
        <a:lstStyle/>
        <a:p>
          <a:endParaRPr lang="en-US"/>
        </a:p>
      </dgm:t>
    </dgm:pt>
    <dgm:pt modelId="{0946B8FC-B3CF-46CD-A3D9-84B5B7AAB7A9}" type="sibTrans" cxnId="{9A910398-AC9F-4E20-BEC3-1F7A4513B886}">
      <dgm:prSet/>
      <dgm:spPr/>
      <dgm:t>
        <a:bodyPr/>
        <a:lstStyle/>
        <a:p>
          <a:endParaRPr lang="en-US"/>
        </a:p>
      </dgm:t>
    </dgm:pt>
    <dgm:pt modelId="{D48ECD33-2734-4AFF-8482-291AAA9C5E8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Emotion Arc Classifier Performance</a:t>
          </a:r>
          <a:b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>
            <a:lnSpc>
              <a:spcPct val="100000"/>
            </a:lnSpc>
          </a:pP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Struggles with dynamic arcs: </a:t>
          </a:r>
          <a:r>
            <a:rPr lang="en-US" sz="1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neg_to_pos</a:t>
          </a: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and </a:t>
          </a:r>
          <a:r>
            <a:rPr lang="en-US" sz="1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pos_to_neg</a:t>
          </a: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though perform better on stable arcs: </a:t>
          </a:r>
          <a:r>
            <a:rPr lang="en-US" sz="1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stable_pos</a:t>
          </a: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and </a:t>
          </a:r>
          <a:r>
            <a:rPr lang="en-US" sz="1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stable_neg</a:t>
          </a: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</a:p>
        <a:p>
          <a:pPr>
            <a:lnSpc>
              <a:spcPct val="100000"/>
            </a:lnSpc>
          </a:pP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Sensitive to short, ambiguous, and mixed tones</a:t>
          </a:r>
        </a:p>
      </dgm:t>
    </dgm:pt>
    <dgm:pt modelId="{E6680BE7-AF18-4A40-B152-32692E8F7D80}" type="parTrans" cxnId="{16713F35-5F4F-413D-9F8D-A6CFCDFF142F}">
      <dgm:prSet/>
      <dgm:spPr/>
      <dgm:t>
        <a:bodyPr/>
        <a:lstStyle/>
        <a:p>
          <a:endParaRPr lang="en-US"/>
        </a:p>
      </dgm:t>
    </dgm:pt>
    <dgm:pt modelId="{49FCADE2-5986-464D-BF31-9AE107BA7BFA}" type="sibTrans" cxnId="{16713F35-5F4F-413D-9F8D-A6CFCDFF142F}">
      <dgm:prSet/>
      <dgm:spPr/>
      <dgm:t>
        <a:bodyPr/>
        <a:lstStyle/>
        <a:p>
          <a:endParaRPr lang="en-US"/>
        </a:p>
      </dgm:t>
    </dgm:pt>
    <dgm:pt modelId="{EC905360-3507-44E5-A299-648EBC2FA1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Simplicity of Rule-Based Risk Model</a:t>
          </a:r>
        </a:p>
        <a:p>
          <a:pPr>
            <a:lnSpc>
              <a:spcPct val="100000"/>
            </a:lnSpc>
          </a:pPr>
          <a:r>
            <a: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Relies on fixed keywords(</a:t>
          </a:r>
          <a:r>
            <a:rPr lang="en-US" sz="14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e.g</a:t>
          </a:r>
          <a:r>
            <a: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“suicidal”) and arc types.</a:t>
          </a:r>
        </a:p>
        <a:p>
          <a:pPr>
            <a:lnSpc>
              <a:spcPct val="100000"/>
            </a:lnSpc>
          </a:pPr>
          <a:r>
            <a: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</a:t>
          </a:r>
          <a:r>
            <a:rPr lang="en-US" sz="14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Tranparent</a:t>
          </a:r>
          <a:r>
            <a: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but rigid- fails to account for conflicting emotional signals.</a:t>
          </a:r>
        </a:p>
        <a:p>
          <a:endParaRPr lang="en-US" sz="12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41905D8-1A06-41FF-85A2-3CCD7EAE03C7}" type="parTrans" cxnId="{40713898-79F5-44A7-8C72-05590B3CEC6F}">
      <dgm:prSet/>
      <dgm:spPr/>
      <dgm:t>
        <a:bodyPr/>
        <a:lstStyle/>
        <a:p>
          <a:endParaRPr lang="en-US"/>
        </a:p>
      </dgm:t>
    </dgm:pt>
    <dgm:pt modelId="{5E82BF96-D60F-4794-8246-177B05C53FC7}" type="sibTrans" cxnId="{40713898-79F5-44A7-8C72-05590B3CEC6F}">
      <dgm:prSet/>
      <dgm:spPr/>
      <dgm:t>
        <a:bodyPr/>
        <a:lstStyle/>
        <a:p>
          <a:endParaRPr lang="en-US"/>
        </a:p>
      </dgm:t>
    </dgm:pt>
    <dgm:pt modelId="{AFADCACA-FEF9-4DF4-8F3C-0A4A0AA1716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Causal Inference Sensitivity </a:t>
          </a:r>
          <a:br>
            <a: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</a:t>
          </a:r>
          <a:r>
            <a:rPr lang="en-US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Causal Forest Model is vulnerable to – data sparsity, treatment imbalance, unobserved confounders and Interpretability is limited, especially in 	small and noisy data.</a:t>
          </a:r>
        </a:p>
        <a:p>
          <a:pPr>
            <a:lnSpc>
              <a:spcPct val="100000"/>
            </a:lnSpc>
          </a:pPr>
          <a:endParaRPr lang="en-US" sz="12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>
            <a:lnSpc>
              <a:spcPct val="100000"/>
            </a:lnSpc>
          </a:pPr>
          <a:endParaRPr lang="en-US" sz="12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>
            <a:lnSpc>
              <a:spcPct val="100000"/>
            </a:lnSpc>
          </a:pPr>
          <a:endParaRPr lang="en-US" sz="12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>
            <a:lnSpc>
              <a:spcPct val="100000"/>
            </a:lnSpc>
          </a:pPr>
          <a:endParaRPr lang="en-US" sz="12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>
            <a:lnSpc>
              <a:spcPct val="100000"/>
            </a:lnSpc>
          </a:pPr>
          <a:endParaRPr lang="en-US" sz="12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A049540-0E9E-488B-BD0E-DA4541F05D38}" type="parTrans" cxnId="{8D8E8FD4-930E-4B16-9031-5839118F9F5C}">
      <dgm:prSet/>
      <dgm:spPr/>
      <dgm:t>
        <a:bodyPr/>
        <a:lstStyle/>
        <a:p>
          <a:endParaRPr lang="en-US"/>
        </a:p>
      </dgm:t>
    </dgm:pt>
    <dgm:pt modelId="{E2F9EA9E-F598-4D2F-B338-243FB32DB68E}" type="sibTrans" cxnId="{8D8E8FD4-930E-4B16-9031-5839118F9F5C}">
      <dgm:prSet/>
      <dgm:spPr/>
      <dgm:t>
        <a:bodyPr/>
        <a:lstStyle/>
        <a:p>
          <a:endParaRPr lang="en-US"/>
        </a:p>
      </dgm:t>
    </dgm:pt>
    <dgm:pt modelId="{88284490-3D82-4DBD-9775-F9F9081AE134}" type="pres">
      <dgm:prSet presAssocID="{3B61B798-231C-43F2-A002-4A7D6CC745F5}" presName="vert0" presStyleCnt="0">
        <dgm:presLayoutVars>
          <dgm:dir/>
          <dgm:animOne val="branch"/>
          <dgm:animLvl val="lvl"/>
        </dgm:presLayoutVars>
      </dgm:prSet>
      <dgm:spPr/>
    </dgm:pt>
    <dgm:pt modelId="{2B1C14AF-118D-40C8-9447-3267E22DA669}" type="pres">
      <dgm:prSet presAssocID="{DDE1432F-0E6A-481B-8A8C-B4C3E327E85D}" presName="thickLine" presStyleLbl="alignNode1" presStyleIdx="0" presStyleCnt="4"/>
      <dgm:spPr/>
    </dgm:pt>
    <dgm:pt modelId="{ED7A68A7-2262-419B-90E4-DB8FD03AE213}" type="pres">
      <dgm:prSet presAssocID="{DDE1432F-0E6A-481B-8A8C-B4C3E327E85D}" presName="horz1" presStyleCnt="0"/>
      <dgm:spPr/>
    </dgm:pt>
    <dgm:pt modelId="{2B57F806-6F82-445F-82CB-5CFB51D47EA1}" type="pres">
      <dgm:prSet presAssocID="{DDE1432F-0E6A-481B-8A8C-B4C3E327E85D}" presName="tx1" presStyleLbl="revTx" presStyleIdx="0" presStyleCnt="4"/>
      <dgm:spPr/>
    </dgm:pt>
    <dgm:pt modelId="{A8E88D9C-B507-4AC3-A698-77AD25D5087E}" type="pres">
      <dgm:prSet presAssocID="{DDE1432F-0E6A-481B-8A8C-B4C3E327E85D}" presName="vert1" presStyleCnt="0"/>
      <dgm:spPr/>
    </dgm:pt>
    <dgm:pt modelId="{3377E026-DB04-4310-ABDB-81494CF79F20}" type="pres">
      <dgm:prSet presAssocID="{D48ECD33-2734-4AFF-8482-291AAA9C5E8B}" presName="thickLine" presStyleLbl="alignNode1" presStyleIdx="1" presStyleCnt="4"/>
      <dgm:spPr/>
    </dgm:pt>
    <dgm:pt modelId="{215D114E-45F2-423E-9D96-CC069F801008}" type="pres">
      <dgm:prSet presAssocID="{D48ECD33-2734-4AFF-8482-291AAA9C5E8B}" presName="horz1" presStyleCnt="0"/>
      <dgm:spPr/>
    </dgm:pt>
    <dgm:pt modelId="{E01DC731-1C22-4185-B9F4-DCE4007DED9C}" type="pres">
      <dgm:prSet presAssocID="{D48ECD33-2734-4AFF-8482-291AAA9C5E8B}" presName="tx1" presStyleLbl="revTx" presStyleIdx="1" presStyleCnt="4"/>
      <dgm:spPr/>
    </dgm:pt>
    <dgm:pt modelId="{601CAE8E-B60D-4825-A69B-CC9F96DCE5C0}" type="pres">
      <dgm:prSet presAssocID="{D48ECD33-2734-4AFF-8482-291AAA9C5E8B}" presName="vert1" presStyleCnt="0"/>
      <dgm:spPr/>
    </dgm:pt>
    <dgm:pt modelId="{85E121C5-0708-4B4D-B8A2-1BB0BA34BA29}" type="pres">
      <dgm:prSet presAssocID="{EC905360-3507-44E5-A299-648EBC2FA1B2}" presName="thickLine" presStyleLbl="alignNode1" presStyleIdx="2" presStyleCnt="4" custLinFactNeighborY="-14035"/>
      <dgm:spPr/>
    </dgm:pt>
    <dgm:pt modelId="{6031C394-F6C8-48E5-8AA6-8100A8C40EF2}" type="pres">
      <dgm:prSet presAssocID="{EC905360-3507-44E5-A299-648EBC2FA1B2}" presName="horz1" presStyleCnt="0"/>
      <dgm:spPr/>
    </dgm:pt>
    <dgm:pt modelId="{D6FBAC51-DB04-421F-A2B6-0887D1EF6C39}" type="pres">
      <dgm:prSet presAssocID="{EC905360-3507-44E5-A299-648EBC2FA1B2}" presName="tx1" presStyleLbl="revTx" presStyleIdx="2" presStyleCnt="4" custScaleY="77781"/>
      <dgm:spPr/>
    </dgm:pt>
    <dgm:pt modelId="{A169C932-F089-4FAA-BF31-9E0935EBA8D8}" type="pres">
      <dgm:prSet presAssocID="{EC905360-3507-44E5-A299-648EBC2FA1B2}" presName="vert1" presStyleCnt="0"/>
      <dgm:spPr/>
    </dgm:pt>
    <dgm:pt modelId="{1945FAAD-0E5F-45C7-99BC-62F604C27177}" type="pres">
      <dgm:prSet presAssocID="{AFADCACA-FEF9-4DF4-8F3C-0A4A0AA17163}" presName="thickLine" presStyleLbl="alignNode1" presStyleIdx="3" presStyleCnt="4"/>
      <dgm:spPr/>
    </dgm:pt>
    <dgm:pt modelId="{72B53157-3737-4336-8223-E0710D958C04}" type="pres">
      <dgm:prSet presAssocID="{AFADCACA-FEF9-4DF4-8F3C-0A4A0AA17163}" presName="horz1" presStyleCnt="0"/>
      <dgm:spPr/>
    </dgm:pt>
    <dgm:pt modelId="{A1C346EA-7280-456B-893D-559268A038EF}" type="pres">
      <dgm:prSet presAssocID="{AFADCACA-FEF9-4DF4-8F3C-0A4A0AA17163}" presName="tx1" presStyleLbl="revTx" presStyleIdx="3" presStyleCnt="4" custScaleY="72388"/>
      <dgm:spPr/>
    </dgm:pt>
    <dgm:pt modelId="{F02C3819-DEFF-46AD-9707-A2138A459487}" type="pres">
      <dgm:prSet presAssocID="{AFADCACA-FEF9-4DF4-8F3C-0A4A0AA17163}" presName="vert1" presStyleCnt="0"/>
      <dgm:spPr/>
    </dgm:pt>
  </dgm:ptLst>
  <dgm:cxnLst>
    <dgm:cxn modelId="{797B0633-DF23-4325-BCF3-9489CB9AA859}" type="presOf" srcId="{3B61B798-231C-43F2-A002-4A7D6CC745F5}" destId="{88284490-3D82-4DBD-9775-F9F9081AE134}" srcOrd="0" destOrd="0" presId="urn:microsoft.com/office/officeart/2008/layout/LinedList"/>
    <dgm:cxn modelId="{16713F35-5F4F-413D-9F8D-A6CFCDFF142F}" srcId="{3B61B798-231C-43F2-A002-4A7D6CC745F5}" destId="{D48ECD33-2734-4AFF-8482-291AAA9C5E8B}" srcOrd="1" destOrd="0" parTransId="{E6680BE7-AF18-4A40-B152-32692E8F7D80}" sibTransId="{49FCADE2-5986-464D-BF31-9AE107BA7BFA}"/>
    <dgm:cxn modelId="{59F5D25F-CE61-4BE9-8A00-ED1A572CA34C}" type="presOf" srcId="{EC905360-3507-44E5-A299-648EBC2FA1B2}" destId="{D6FBAC51-DB04-421F-A2B6-0887D1EF6C39}" srcOrd="0" destOrd="0" presId="urn:microsoft.com/office/officeart/2008/layout/LinedList"/>
    <dgm:cxn modelId="{3F039C74-D826-4A11-A9F5-F6EAC95247A0}" type="presOf" srcId="{D48ECD33-2734-4AFF-8482-291AAA9C5E8B}" destId="{E01DC731-1C22-4185-B9F4-DCE4007DED9C}" srcOrd="0" destOrd="0" presId="urn:microsoft.com/office/officeart/2008/layout/LinedList"/>
    <dgm:cxn modelId="{67F34091-4338-4BAC-A817-4D0E1A2DD5EC}" type="presOf" srcId="{AFADCACA-FEF9-4DF4-8F3C-0A4A0AA17163}" destId="{A1C346EA-7280-456B-893D-559268A038EF}" srcOrd="0" destOrd="0" presId="urn:microsoft.com/office/officeart/2008/layout/LinedList"/>
    <dgm:cxn modelId="{9A910398-AC9F-4E20-BEC3-1F7A4513B886}" srcId="{3B61B798-231C-43F2-A002-4A7D6CC745F5}" destId="{DDE1432F-0E6A-481B-8A8C-B4C3E327E85D}" srcOrd="0" destOrd="0" parTransId="{81C7A173-89D4-4734-9DE5-7BE8D165C236}" sibTransId="{0946B8FC-B3CF-46CD-A3D9-84B5B7AAB7A9}"/>
    <dgm:cxn modelId="{40713898-79F5-44A7-8C72-05590B3CEC6F}" srcId="{3B61B798-231C-43F2-A002-4A7D6CC745F5}" destId="{EC905360-3507-44E5-A299-648EBC2FA1B2}" srcOrd="2" destOrd="0" parTransId="{441905D8-1A06-41FF-85A2-3CCD7EAE03C7}" sibTransId="{5E82BF96-D60F-4794-8246-177B05C53FC7}"/>
    <dgm:cxn modelId="{8D8E8FD4-930E-4B16-9031-5839118F9F5C}" srcId="{3B61B798-231C-43F2-A002-4A7D6CC745F5}" destId="{AFADCACA-FEF9-4DF4-8F3C-0A4A0AA17163}" srcOrd="3" destOrd="0" parTransId="{4A049540-0E9E-488B-BD0E-DA4541F05D38}" sibTransId="{E2F9EA9E-F598-4D2F-B338-243FB32DB68E}"/>
    <dgm:cxn modelId="{0E7278E7-BB0B-4F8B-A1F0-6F2B381B4F43}" type="presOf" srcId="{DDE1432F-0E6A-481B-8A8C-B4C3E327E85D}" destId="{2B57F806-6F82-445F-82CB-5CFB51D47EA1}" srcOrd="0" destOrd="0" presId="urn:microsoft.com/office/officeart/2008/layout/LinedList"/>
    <dgm:cxn modelId="{7C29DF50-37FE-46B5-88C4-F11822707F97}" type="presParOf" srcId="{88284490-3D82-4DBD-9775-F9F9081AE134}" destId="{2B1C14AF-118D-40C8-9447-3267E22DA669}" srcOrd="0" destOrd="0" presId="urn:microsoft.com/office/officeart/2008/layout/LinedList"/>
    <dgm:cxn modelId="{CB4BDE33-62B5-4CA7-81E4-C07570AFD5C6}" type="presParOf" srcId="{88284490-3D82-4DBD-9775-F9F9081AE134}" destId="{ED7A68A7-2262-419B-90E4-DB8FD03AE213}" srcOrd="1" destOrd="0" presId="urn:microsoft.com/office/officeart/2008/layout/LinedList"/>
    <dgm:cxn modelId="{51473C63-6FE3-403C-8D2F-AE98010B8D4B}" type="presParOf" srcId="{ED7A68A7-2262-419B-90E4-DB8FD03AE213}" destId="{2B57F806-6F82-445F-82CB-5CFB51D47EA1}" srcOrd="0" destOrd="0" presId="urn:microsoft.com/office/officeart/2008/layout/LinedList"/>
    <dgm:cxn modelId="{E67C4C86-0CA6-43C8-972D-1B0ABE3265CB}" type="presParOf" srcId="{ED7A68A7-2262-419B-90E4-DB8FD03AE213}" destId="{A8E88D9C-B507-4AC3-A698-77AD25D5087E}" srcOrd="1" destOrd="0" presId="urn:microsoft.com/office/officeart/2008/layout/LinedList"/>
    <dgm:cxn modelId="{138A4FC0-4400-490D-BF6C-BB4A229F9AF3}" type="presParOf" srcId="{88284490-3D82-4DBD-9775-F9F9081AE134}" destId="{3377E026-DB04-4310-ABDB-81494CF79F20}" srcOrd="2" destOrd="0" presId="urn:microsoft.com/office/officeart/2008/layout/LinedList"/>
    <dgm:cxn modelId="{28F08A5E-BA0C-44C2-B115-F33CE01FAB9A}" type="presParOf" srcId="{88284490-3D82-4DBD-9775-F9F9081AE134}" destId="{215D114E-45F2-423E-9D96-CC069F801008}" srcOrd="3" destOrd="0" presId="urn:microsoft.com/office/officeart/2008/layout/LinedList"/>
    <dgm:cxn modelId="{DDB6FBBE-E4EF-4AC7-852F-1B8FAFDDB6E3}" type="presParOf" srcId="{215D114E-45F2-423E-9D96-CC069F801008}" destId="{E01DC731-1C22-4185-B9F4-DCE4007DED9C}" srcOrd="0" destOrd="0" presId="urn:microsoft.com/office/officeart/2008/layout/LinedList"/>
    <dgm:cxn modelId="{7CAFC4A5-1234-4DF9-8EDE-FEC8FC8D86E5}" type="presParOf" srcId="{215D114E-45F2-423E-9D96-CC069F801008}" destId="{601CAE8E-B60D-4825-A69B-CC9F96DCE5C0}" srcOrd="1" destOrd="0" presId="urn:microsoft.com/office/officeart/2008/layout/LinedList"/>
    <dgm:cxn modelId="{DF493DBC-F8C5-4879-8E81-F777D2BC1362}" type="presParOf" srcId="{88284490-3D82-4DBD-9775-F9F9081AE134}" destId="{85E121C5-0708-4B4D-B8A2-1BB0BA34BA29}" srcOrd="4" destOrd="0" presId="urn:microsoft.com/office/officeart/2008/layout/LinedList"/>
    <dgm:cxn modelId="{47242E3B-3EB8-4333-A598-8461D5170386}" type="presParOf" srcId="{88284490-3D82-4DBD-9775-F9F9081AE134}" destId="{6031C394-F6C8-48E5-8AA6-8100A8C40EF2}" srcOrd="5" destOrd="0" presId="urn:microsoft.com/office/officeart/2008/layout/LinedList"/>
    <dgm:cxn modelId="{1D577ABF-5A64-4F60-8E38-55B6B5FFE842}" type="presParOf" srcId="{6031C394-F6C8-48E5-8AA6-8100A8C40EF2}" destId="{D6FBAC51-DB04-421F-A2B6-0887D1EF6C39}" srcOrd="0" destOrd="0" presId="urn:microsoft.com/office/officeart/2008/layout/LinedList"/>
    <dgm:cxn modelId="{5FBB9A52-5924-46A5-9BB9-BD4DC3D6A27F}" type="presParOf" srcId="{6031C394-F6C8-48E5-8AA6-8100A8C40EF2}" destId="{A169C932-F089-4FAA-BF31-9E0935EBA8D8}" srcOrd="1" destOrd="0" presId="urn:microsoft.com/office/officeart/2008/layout/LinedList"/>
    <dgm:cxn modelId="{026B6A55-6AE1-4AB1-883C-56C4D38BCFEF}" type="presParOf" srcId="{88284490-3D82-4DBD-9775-F9F9081AE134}" destId="{1945FAAD-0E5F-45C7-99BC-62F604C27177}" srcOrd="6" destOrd="0" presId="urn:microsoft.com/office/officeart/2008/layout/LinedList"/>
    <dgm:cxn modelId="{51E2E269-0003-4574-944D-A89D975E8C15}" type="presParOf" srcId="{88284490-3D82-4DBD-9775-F9F9081AE134}" destId="{72B53157-3737-4336-8223-E0710D958C04}" srcOrd="7" destOrd="0" presId="urn:microsoft.com/office/officeart/2008/layout/LinedList"/>
    <dgm:cxn modelId="{D28853F1-70F8-4C13-8F7D-02F8AF81995C}" type="presParOf" srcId="{72B53157-3737-4336-8223-E0710D958C04}" destId="{A1C346EA-7280-456B-893D-559268A038EF}" srcOrd="0" destOrd="0" presId="urn:microsoft.com/office/officeart/2008/layout/LinedList"/>
    <dgm:cxn modelId="{DEBC7BA8-8DE2-4B9A-9C8B-4667ABA3D761}" type="presParOf" srcId="{72B53157-3737-4336-8223-E0710D958C04}" destId="{F02C3819-DEFF-46AD-9707-A2138A4594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122839-D07A-4238-966B-1E0498DF14AA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0017E3-DE44-4C05-96D3-9A092AC4871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1. Context-Aware Emotion Detection</a:t>
          </a:r>
          <a:endParaRPr lang="en-US"/>
        </a:p>
      </dgm:t>
    </dgm:pt>
    <dgm:pt modelId="{C707ACF0-2780-4AF9-9145-7993DFF4901A}" type="parTrans" cxnId="{879349FA-F3FF-4293-ADAF-9C89EBA6F6AD}">
      <dgm:prSet/>
      <dgm:spPr/>
      <dgm:t>
        <a:bodyPr/>
        <a:lstStyle/>
        <a:p>
          <a:endParaRPr lang="en-US"/>
        </a:p>
      </dgm:t>
    </dgm:pt>
    <dgm:pt modelId="{73E0B78F-5CCD-46D7-BD5F-3926220E963F}" type="sibTrans" cxnId="{879349FA-F3FF-4293-ADAF-9C89EBA6F6AD}">
      <dgm:prSet/>
      <dgm:spPr/>
      <dgm:t>
        <a:bodyPr/>
        <a:lstStyle/>
        <a:p>
          <a:endParaRPr lang="en-US"/>
        </a:p>
      </dgm:t>
    </dgm:pt>
    <dgm:pt modelId="{0D7BF0EF-F425-4BE1-AF58-34D3BBDEAE4F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Replace lexicon-based methods with transformers (e.g., </a:t>
          </a: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MentalRoBERTa</a:t>
          </a: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</a:p>
      </dgm:t>
    </dgm:pt>
    <dgm:pt modelId="{63BCDD0A-1ED1-459D-B61C-798CB62FFC57}" type="parTrans" cxnId="{425E4007-2796-4466-B726-590F74D7DAB8}">
      <dgm:prSet/>
      <dgm:spPr/>
      <dgm:t>
        <a:bodyPr/>
        <a:lstStyle/>
        <a:p>
          <a:endParaRPr lang="en-US"/>
        </a:p>
      </dgm:t>
    </dgm:pt>
    <dgm:pt modelId="{8D43D9F6-366E-4C45-B28C-75BC322CADC3}" type="sibTrans" cxnId="{425E4007-2796-4466-B726-590F74D7DAB8}">
      <dgm:prSet/>
      <dgm:spPr/>
      <dgm:t>
        <a:bodyPr/>
        <a:lstStyle/>
        <a:p>
          <a:endParaRPr lang="en-US"/>
        </a:p>
      </dgm:t>
    </dgm:pt>
    <dgm:pt modelId="{7CA5A626-9D77-43A8-9D05-8D18624C7CF4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Capture nuanced, sarcastic, and context-sensitive emotional language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6F3825B-A406-405F-B0BD-508BCC25184D}" type="parTrans" cxnId="{463A20B5-83C0-44A6-BF1A-6B8A979F76C5}">
      <dgm:prSet/>
      <dgm:spPr/>
      <dgm:t>
        <a:bodyPr/>
        <a:lstStyle/>
        <a:p>
          <a:endParaRPr lang="en-US"/>
        </a:p>
      </dgm:t>
    </dgm:pt>
    <dgm:pt modelId="{FE1B0194-4E65-44A5-AB43-03DA0DC69E96}" type="sibTrans" cxnId="{463A20B5-83C0-44A6-BF1A-6B8A979F76C5}">
      <dgm:prSet/>
      <dgm:spPr/>
      <dgm:t>
        <a:bodyPr/>
        <a:lstStyle/>
        <a:p>
          <a:endParaRPr lang="en-US"/>
        </a:p>
      </dgm:t>
    </dgm:pt>
    <dgm:pt modelId="{5503CAEE-9867-46C2-9BFB-5CDA8CAD9A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2. Neural Modeling of Emotion Arcs</a:t>
          </a:r>
          <a:endParaRPr lang="en-US"/>
        </a:p>
      </dgm:t>
    </dgm:pt>
    <dgm:pt modelId="{1C552017-3836-4F2A-9DCF-FE59B7E9E770}" type="parTrans" cxnId="{E35D0818-6A1E-43EE-A54E-BBD93E22132D}">
      <dgm:prSet/>
      <dgm:spPr/>
      <dgm:t>
        <a:bodyPr/>
        <a:lstStyle/>
        <a:p>
          <a:endParaRPr lang="en-US"/>
        </a:p>
      </dgm:t>
    </dgm:pt>
    <dgm:pt modelId="{509248C9-5E59-4C46-9BCD-28494062B076}" type="sibTrans" cxnId="{E35D0818-6A1E-43EE-A54E-BBD93E22132D}">
      <dgm:prSet/>
      <dgm:spPr/>
      <dgm:t>
        <a:bodyPr/>
        <a:lstStyle/>
        <a:p>
          <a:endParaRPr lang="en-US"/>
        </a:p>
      </dgm:t>
    </dgm:pt>
    <dgm:pt modelId="{2BBFA2F5-9E3F-4C82-97A2-C6766160CC2D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Move beyond rule-based arcs</a:t>
          </a:r>
        </a:p>
      </dgm:t>
    </dgm:pt>
    <dgm:pt modelId="{45D1B127-3177-4B27-ACC7-FEC38515328A}" type="parTrans" cxnId="{98344118-B8E1-4ED0-BF87-C1929DA99C3C}">
      <dgm:prSet/>
      <dgm:spPr/>
      <dgm:t>
        <a:bodyPr/>
        <a:lstStyle/>
        <a:p>
          <a:endParaRPr lang="en-US"/>
        </a:p>
      </dgm:t>
    </dgm:pt>
    <dgm:pt modelId="{49310135-3E7D-49B0-85B7-0216ED805766}" type="sibTrans" cxnId="{98344118-B8E1-4ED0-BF87-C1929DA99C3C}">
      <dgm:prSet/>
      <dgm:spPr/>
      <dgm:t>
        <a:bodyPr/>
        <a:lstStyle/>
        <a:p>
          <a:endParaRPr lang="en-US"/>
        </a:p>
      </dgm:t>
    </dgm:pt>
    <dgm:pt modelId="{4C92DC54-FC27-416C-B13C-63A4A4344A1F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RNNs, GRUs, or Transformers to learn dynamic emotion patterns (e.g., escalation, recovery)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74A0DC4-F785-4478-A0C5-84663DB629FC}" type="parTrans" cxnId="{256C2FD9-6ECD-48CC-A9E1-2750B6D8FBF4}">
      <dgm:prSet/>
      <dgm:spPr/>
      <dgm:t>
        <a:bodyPr/>
        <a:lstStyle/>
        <a:p>
          <a:endParaRPr lang="en-US"/>
        </a:p>
      </dgm:t>
    </dgm:pt>
    <dgm:pt modelId="{0F435659-6A00-4344-92F0-7189C3532C2D}" type="sibTrans" cxnId="{256C2FD9-6ECD-48CC-A9E1-2750B6D8FBF4}">
      <dgm:prSet/>
      <dgm:spPr/>
      <dgm:t>
        <a:bodyPr/>
        <a:lstStyle/>
        <a:p>
          <a:endParaRPr lang="en-US"/>
        </a:p>
      </dgm:t>
    </dgm:pt>
    <dgm:pt modelId="{EBAAF069-F0FA-4FCE-B244-83E76F57B68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3. Smarter Risk Prediction</a:t>
          </a:r>
          <a:endParaRPr lang="en-US"/>
        </a:p>
      </dgm:t>
    </dgm:pt>
    <dgm:pt modelId="{6EDA9874-9BED-4600-AC7A-B639EE9DA730}" type="parTrans" cxnId="{48F345E9-DA15-43CD-9A13-21A219686055}">
      <dgm:prSet/>
      <dgm:spPr/>
      <dgm:t>
        <a:bodyPr/>
        <a:lstStyle/>
        <a:p>
          <a:endParaRPr lang="en-US"/>
        </a:p>
      </dgm:t>
    </dgm:pt>
    <dgm:pt modelId="{0DC245D3-BFDA-4484-9DAC-97FBBBE9B60D}" type="sibTrans" cxnId="{48F345E9-DA15-43CD-9A13-21A219686055}">
      <dgm:prSet/>
      <dgm:spPr/>
      <dgm:t>
        <a:bodyPr/>
        <a:lstStyle/>
        <a:p>
          <a:endParaRPr lang="en-US"/>
        </a:p>
      </dgm:t>
    </dgm:pt>
    <dgm:pt modelId="{53F62846-6549-4060-8098-750C9B6A750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Upgrade from rigid rules to learned models combining arcs, keywords, and embeddings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3234330-13C0-4610-9B3F-CEDC7B195FD3}" type="parTrans" cxnId="{F8F662A9-D904-43A9-A63C-91420C8E6B24}">
      <dgm:prSet/>
      <dgm:spPr/>
      <dgm:t>
        <a:bodyPr/>
        <a:lstStyle/>
        <a:p>
          <a:endParaRPr lang="en-US"/>
        </a:p>
      </dgm:t>
    </dgm:pt>
    <dgm:pt modelId="{3CE43EC2-3254-4E0E-800A-8F992BE9E4BE}" type="sibTrans" cxnId="{F8F662A9-D904-43A9-A63C-91420C8E6B24}">
      <dgm:prSet/>
      <dgm:spPr/>
      <dgm:t>
        <a:bodyPr/>
        <a:lstStyle/>
        <a:p>
          <a:endParaRPr lang="en-US"/>
        </a:p>
      </dgm:t>
    </dgm:pt>
    <dgm:pt modelId="{3350B7E7-AC7A-4E40-A4A5-238F1D4FC7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Better handle conflicting signals (e.g., hope vs. harm)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FC002F3-D8FC-4DD3-AAB2-1057A937CE3D}" type="parTrans" cxnId="{910CFCCE-5C49-408A-A770-FF5EECBBCF8F}">
      <dgm:prSet/>
      <dgm:spPr/>
      <dgm:t>
        <a:bodyPr/>
        <a:lstStyle/>
        <a:p>
          <a:endParaRPr lang="en-US"/>
        </a:p>
      </dgm:t>
    </dgm:pt>
    <dgm:pt modelId="{05FCA000-21A4-4D79-AC78-D284E8A72196}" type="sibTrans" cxnId="{910CFCCE-5C49-408A-A770-FF5EECBBCF8F}">
      <dgm:prSet/>
      <dgm:spPr/>
      <dgm:t>
        <a:bodyPr/>
        <a:lstStyle/>
        <a:p>
          <a:endParaRPr lang="en-US"/>
        </a:p>
      </dgm:t>
    </dgm:pt>
    <dgm:pt modelId="{3E234D1E-1BBB-428A-80F5-D8B32F63E0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4. Longitudinal &amp; Personalized Analysis</a:t>
          </a:r>
          <a:endParaRPr lang="en-US"/>
        </a:p>
      </dgm:t>
    </dgm:pt>
    <dgm:pt modelId="{A3813CE1-0E65-4714-AC3E-04555E172135}" type="parTrans" cxnId="{2D5ADB7F-20F6-4AAB-81A9-5DFE503AACF9}">
      <dgm:prSet/>
      <dgm:spPr/>
      <dgm:t>
        <a:bodyPr/>
        <a:lstStyle/>
        <a:p>
          <a:endParaRPr lang="en-US"/>
        </a:p>
      </dgm:t>
    </dgm:pt>
    <dgm:pt modelId="{3A5D85FD-03E6-4A2D-83B8-A3B6AD419D28}" type="sibTrans" cxnId="{2D5ADB7F-20F6-4AAB-81A9-5DFE503AACF9}">
      <dgm:prSet/>
      <dgm:spPr/>
      <dgm:t>
        <a:bodyPr/>
        <a:lstStyle/>
        <a:p>
          <a:endParaRPr lang="en-US"/>
        </a:p>
      </dgm:t>
    </dgm:pt>
    <dgm:pt modelId="{C01D136F-9141-4C07-B2C9-D35FDDBF25C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Track multiple posts over time per user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F24CACB-4643-448A-8078-64A0A8FBCC84}" type="parTrans" cxnId="{3C61D8FA-8CDD-4405-8E44-C840788F5FCE}">
      <dgm:prSet/>
      <dgm:spPr/>
      <dgm:t>
        <a:bodyPr/>
        <a:lstStyle/>
        <a:p>
          <a:endParaRPr lang="en-US"/>
        </a:p>
      </dgm:t>
    </dgm:pt>
    <dgm:pt modelId="{938A009F-7A18-4ABF-80D2-C7999271A5C0}" type="sibTrans" cxnId="{3C61D8FA-8CDD-4405-8E44-C840788F5FCE}">
      <dgm:prSet/>
      <dgm:spPr/>
      <dgm:t>
        <a:bodyPr/>
        <a:lstStyle/>
        <a:p>
          <a:endParaRPr lang="en-US"/>
        </a:p>
      </dgm:t>
    </dgm:pt>
    <dgm:pt modelId="{AE26AE93-57AA-487F-85C1-76436FD7696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personalized baselines to detect emotional shifts more accurately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077BC89-0C5D-4E6F-AA85-91DFA2B94EDF}" type="parTrans" cxnId="{3BE72B19-C763-431D-9822-0F0981370E6B}">
      <dgm:prSet/>
      <dgm:spPr/>
      <dgm:t>
        <a:bodyPr/>
        <a:lstStyle/>
        <a:p>
          <a:endParaRPr lang="en-US"/>
        </a:p>
      </dgm:t>
    </dgm:pt>
    <dgm:pt modelId="{7833DF38-082C-4BA3-A5DC-401C020E4B07}" type="sibTrans" cxnId="{3BE72B19-C763-431D-9822-0F0981370E6B}">
      <dgm:prSet/>
      <dgm:spPr/>
      <dgm:t>
        <a:bodyPr/>
        <a:lstStyle/>
        <a:p>
          <a:endParaRPr lang="en-US"/>
        </a:p>
      </dgm:t>
    </dgm:pt>
    <dgm:pt modelId="{6FD290A2-B653-478B-ACEB-8472BA891B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5. Larger &amp; Clinically Validated Datasets</a:t>
          </a:r>
          <a:endParaRPr lang="en-US"/>
        </a:p>
      </dgm:t>
    </dgm:pt>
    <dgm:pt modelId="{08988A9E-1F0A-45EB-BEAA-5567AD130884}" type="parTrans" cxnId="{9A3D62A0-C167-435E-A436-95CFF464612E}">
      <dgm:prSet/>
      <dgm:spPr/>
      <dgm:t>
        <a:bodyPr/>
        <a:lstStyle/>
        <a:p>
          <a:endParaRPr lang="en-US"/>
        </a:p>
      </dgm:t>
    </dgm:pt>
    <dgm:pt modelId="{F7AD3ACF-B49C-44F3-A55C-02D723C0288D}" type="sibTrans" cxnId="{9A3D62A0-C167-435E-A436-95CFF464612E}">
      <dgm:prSet/>
      <dgm:spPr/>
      <dgm:t>
        <a:bodyPr/>
        <a:lstStyle/>
        <a:p>
          <a:endParaRPr lang="en-US"/>
        </a:p>
      </dgm:t>
    </dgm:pt>
    <dgm:pt modelId="{54DFEC72-9A0A-4657-90E7-0049D4FA50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Expand to larger, diverse datasets</a:t>
          </a:r>
        </a:p>
      </dgm:t>
    </dgm:pt>
    <dgm:pt modelId="{31BF78D7-E621-458A-9AB1-4C2EF6D01419}" type="parTrans" cxnId="{D41B55A7-FE5F-4EDF-9BA3-173F9BC6E32C}">
      <dgm:prSet/>
      <dgm:spPr/>
      <dgm:t>
        <a:bodyPr/>
        <a:lstStyle/>
        <a:p>
          <a:endParaRPr lang="en-US"/>
        </a:p>
      </dgm:t>
    </dgm:pt>
    <dgm:pt modelId="{45AE5927-20CA-43DD-91EC-23AEA1F51482}" type="sibTrans" cxnId="{D41B55A7-FE5F-4EDF-9BA3-173F9BC6E32C}">
      <dgm:prSet/>
      <dgm:spPr/>
      <dgm:t>
        <a:bodyPr/>
        <a:lstStyle/>
        <a:p>
          <a:endParaRPr lang="en-US"/>
        </a:p>
      </dgm:t>
    </dgm:pt>
    <dgm:pt modelId="{BFD12A21-1DCF-4771-8660-BCC5C5DCFA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Include clinical or crowd-sourced labels for better generalization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8415F5B-A7E5-4F93-B13B-1D7F4B75746F}" type="parTrans" cxnId="{0F1DD695-C8EF-4502-9DD2-1F9C21582B18}">
      <dgm:prSet/>
      <dgm:spPr/>
      <dgm:t>
        <a:bodyPr/>
        <a:lstStyle/>
        <a:p>
          <a:endParaRPr lang="en-US"/>
        </a:p>
      </dgm:t>
    </dgm:pt>
    <dgm:pt modelId="{2E36CEB0-3128-40C3-8A29-E6018F2294FB}" type="sibTrans" cxnId="{0F1DD695-C8EF-4502-9DD2-1F9C21582B18}">
      <dgm:prSet/>
      <dgm:spPr/>
      <dgm:t>
        <a:bodyPr/>
        <a:lstStyle/>
        <a:p>
          <a:endParaRPr lang="en-US"/>
        </a:p>
      </dgm:t>
    </dgm:pt>
    <dgm:pt modelId="{4186F9D5-C14A-434A-A410-B68F7D3919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6. Human Oversight &amp; Ethics</a:t>
          </a:r>
          <a:endParaRPr lang="en-US"/>
        </a:p>
      </dgm:t>
    </dgm:pt>
    <dgm:pt modelId="{46A0DCBE-D9A5-4360-8BF3-9803AA284162}" type="parTrans" cxnId="{8A0F18A4-EB7F-4948-A25B-D1C4E2E6AAF3}">
      <dgm:prSet/>
      <dgm:spPr/>
      <dgm:t>
        <a:bodyPr/>
        <a:lstStyle/>
        <a:p>
          <a:endParaRPr lang="en-US"/>
        </a:p>
      </dgm:t>
    </dgm:pt>
    <dgm:pt modelId="{5E928290-59AD-4C7E-812C-E706AA883A44}" type="sibTrans" cxnId="{8A0F18A4-EB7F-4948-A25B-D1C4E2E6AAF3}">
      <dgm:prSet/>
      <dgm:spPr/>
      <dgm:t>
        <a:bodyPr/>
        <a:lstStyle/>
        <a:p>
          <a:endParaRPr lang="en-US"/>
        </a:p>
      </dgm:t>
    </dgm:pt>
    <dgm:pt modelId="{86C719A4-E769-40D4-BB01-5AD65B7078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Integrate human-in-the-loop for critical posts</a:t>
          </a:r>
        </a:p>
      </dgm:t>
    </dgm:pt>
    <dgm:pt modelId="{38F009CD-75CC-4178-9E0C-B9CD4B6EC62E}" type="parTrans" cxnId="{6F7801F6-719F-4EE8-A59E-025E1DF21C4B}">
      <dgm:prSet/>
      <dgm:spPr/>
      <dgm:t>
        <a:bodyPr/>
        <a:lstStyle/>
        <a:p>
          <a:endParaRPr lang="en-US"/>
        </a:p>
      </dgm:t>
    </dgm:pt>
    <dgm:pt modelId="{F2908873-7DEC-4EE3-87E1-710F03517747}" type="sibTrans" cxnId="{6F7801F6-719F-4EE8-A59E-025E1DF21C4B}">
      <dgm:prSet/>
      <dgm:spPr/>
      <dgm:t>
        <a:bodyPr/>
        <a:lstStyle/>
        <a:p>
          <a:endParaRPr lang="en-US"/>
        </a:p>
      </dgm:t>
    </dgm:pt>
    <dgm:pt modelId="{74E46448-9CA0-47A2-A041-CDCA9E05BCD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Ensure privacy, consent, and ethical safeguards in deployment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0187301-E66B-4931-AE46-26F0090D5915}" type="parTrans" cxnId="{E01916DD-7C28-4732-9044-67102DEDA4EF}">
      <dgm:prSet/>
      <dgm:spPr/>
      <dgm:t>
        <a:bodyPr/>
        <a:lstStyle/>
        <a:p>
          <a:endParaRPr lang="en-US"/>
        </a:p>
      </dgm:t>
    </dgm:pt>
    <dgm:pt modelId="{23FDA206-0ED9-433E-B230-9CD1C42A10BA}" type="sibTrans" cxnId="{E01916DD-7C28-4732-9044-67102DEDA4EF}">
      <dgm:prSet/>
      <dgm:spPr/>
      <dgm:t>
        <a:bodyPr/>
        <a:lstStyle/>
        <a:p>
          <a:endParaRPr lang="en-US"/>
        </a:p>
      </dgm:t>
    </dgm:pt>
    <dgm:pt modelId="{73107B5E-B4F6-4A81-967A-145BA0007659}" type="pres">
      <dgm:prSet presAssocID="{C6122839-D07A-4238-966B-1E0498DF14AA}" presName="root" presStyleCnt="0">
        <dgm:presLayoutVars>
          <dgm:dir/>
          <dgm:resizeHandles val="exact"/>
        </dgm:presLayoutVars>
      </dgm:prSet>
      <dgm:spPr/>
    </dgm:pt>
    <dgm:pt modelId="{93449192-34A5-4EB9-8B32-777BA082F499}" type="pres">
      <dgm:prSet presAssocID="{090017E3-DE44-4C05-96D3-9A092AC4871C}" presName="compNode" presStyleCnt="0"/>
      <dgm:spPr/>
    </dgm:pt>
    <dgm:pt modelId="{B7859076-AB96-44EB-B7D8-8FFB45E04774}" type="pres">
      <dgm:prSet presAssocID="{090017E3-DE44-4C05-96D3-9A092AC4871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47186F5A-9F33-492C-AA17-1E27E25F1D00}" type="pres">
      <dgm:prSet presAssocID="{090017E3-DE44-4C05-96D3-9A092AC4871C}" presName="iconSpace" presStyleCnt="0"/>
      <dgm:spPr/>
    </dgm:pt>
    <dgm:pt modelId="{2149DE5A-E466-4ADE-8BBE-B14CE04348F7}" type="pres">
      <dgm:prSet presAssocID="{090017E3-DE44-4C05-96D3-9A092AC4871C}" presName="parTx" presStyleLbl="revTx" presStyleIdx="0" presStyleCnt="12">
        <dgm:presLayoutVars>
          <dgm:chMax val="0"/>
          <dgm:chPref val="0"/>
        </dgm:presLayoutVars>
      </dgm:prSet>
      <dgm:spPr/>
    </dgm:pt>
    <dgm:pt modelId="{B16F80F7-01AD-4C7F-95CC-BC1BAF7A0507}" type="pres">
      <dgm:prSet presAssocID="{090017E3-DE44-4C05-96D3-9A092AC4871C}" presName="txSpace" presStyleCnt="0"/>
      <dgm:spPr/>
    </dgm:pt>
    <dgm:pt modelId="{B3A0D9B1-1D0C-4F40-92E3-A812EC091383}" type="pres">
      <dgm:prSet presAssocID="{090017E3-DE44-4C05-96D3-9A092AC4871C}" presName="desTx" presStyleLbl="revTx" presStyleIdx="1" presStyleCnt="12">
        <dgm:presLayoutVars/>
      </dgm:prSet>
      <dgm:spPr/>
    </dgm:pt>
    <dgm:pt modelId="{3F817E99-26A7-4083-8C2E-F5D1F2AD157E}" type="pres">
      <dgm:prSet presAssocID="{73E0B78F-5CCD-46D7-BD5F-3926220E963F}" presName="sibTrans" presStyleCnt="0"/>
      <dgm:spPr/>
    </dgm:pt>
    <dgm:pt modelId="{8A6EF8D9-DD35-4F68-9351-BA7394407932}" type="pres">
      <dgm:prSet presAssocID="{5503CAEE-9867-46C2-9BFB-5CDA8CAD9A46}" presName="compNode" presStyleCnt="0"/>
      <dgm:spPr/>
    </dgm:pt>
    <dgm:pt modelId="{658E66C6-C0FE-4288-895D-AE2248815413}" type="pres">
      <dgm:prSet presAssocID="{5503CAEE-9867-46C2-9BFB-5CDA8CAD9A4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ABE61C9-1C46-4FE0-AEF2-9EA423214DBA}" type="pres">
      <dgm:prSet presAssocID="{5503CAEE-9867-46C2-9BFB-5CDA8CAD9A46}" presName="iconSpace" presStyleCnt="0"/>
      <dgm:spPr/>
    </dgm:pt>
    <dgm:pt modelId="{91791DC4-60B0-4DE3-B791-D98D138EC16B}" type="pres">
      <dgm:prSet presAssocID="{5503CAEE-9867-46C2-9BFB-5CDA8CAD9A46}" presName="parTx" presStyleLbl="revTx" presStyleIdx="2" presStyleCnt="12">
        <dgm:presLayoutVars>
          <dgm:chMax val="0"/>
          <dgm:chPref val="0"/>
        </dgm:presLayoutVars>
      </dgm:prSet>
      <dgm:spPr/>
    </dgm:pt>
    <dgm:pt modelId="{FA8263AC-F753-41D3-9AA6-966473FD6968}" type="pres">
      <dgm:prSet presAssocID="{5503CAEE-9867-46C2-9BFB-5CDA8CAD9A46}" presName="txSpace" presStyleCnt="0"/>
      <dgm:spPr/>
    </dgm:pt>
    <dgm:pt modelId="{304B31EA-3E4A-4381-BAE1-F2565853A983}" type="pres">
      <dgm:prSet presAssocID="{5503CAEE-9867-46C2-9BFB-5CDA8CAD9A46}" presName="desTx" presStyleLbl="revTx" presStyleIdx="3" presStyleCnt="12">
        <dgm:presLayoutVars/>
      </dgm:prSet>
      <dgm:spPr/>
    </dgm:pt>
    <dgm:pt modelId="{D399D1E6-FAC5-44DE-8930-12521EB6F707}" type="pres">
      <dgm:prSet presAssocID="{509248C9-5E59-4C46-9BCD-28494062B076}" presName="sibTrans" presStyleCnt="0"/>
      <dgm:spPr/>
    </dgm:pt>
    <dgm:pt modelId="{EB16F322-77C6-4320-A85B-EB715585C418}" type="pres">
      <dgm:prSet presAssocID="{EBAAF069-F0FA-4FCE-B244-83E76F57B68A}" presName="compNode" presStyleCnt="0"/>
      <dgm:spPr/>
    </dgm:pt>
    <dgm:pt modelId="{974BEEDB-C837-404E-815D-AB56F88F78CF}" type="pres">
      <dgm:prSet presAssocID="{EBAAF069-F0FA-4FCE-B244-83E76F57B68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B0D5B45D-9208-479D-82A8-822CDEB7B465}" type="pres">
      <dgm:prSet presAssocID="{EBAAF069-F0FA-4FCE-B244-83E76F57B68A}" presName="iconSpace" presStyleCnt="0"/>
      <dgm:spPr/>
    </dgm:pt>
    <dgm:pt modelId="{8188E94A-723F-4BF9-9061-9834B5F69D96}" type="pres">
      <dgm:prSet presAssocID="{EBAAF069-F0FA-4FCE-B244-83E76F57B68A}" presName="parTx" presStyleLbl="revTx" presStyleIdx="4" presStyleCnt="12">
        <dgm:presLayoutVars>
          <dgm:chMax val="0"/>
          <dgm:chPref val="0"/>
        </dgm:presLayoutVars>
      </dgm:prSet>
      <dgm:spPr/>
    </dgm:pt>
    <dgm:pt modelId="{3FB7962A-FBE2-4A4E-B701-D80E83159EFC}" type="pres">
      <dgm:prSet presAssocID="{EBAAF069-F0FA-4FCE-B244-83E76F57B68A}" presName="txSpace" presStyleCnt="0"/>
      <dgm:spPr/>
    </dgm:pt>
    <dgm:pt modelId="{BCD9B3B3-0796-4C6C-A8CC-9E7861F09E55}" type="pres">
      <dgm:prSet presAssocID="{EBAAF069-F0FA-4FCE-B244-83E76F57B68A}" presName="desTx" presStyleLbl="revTx" presStyleIdx="5" presStyleCnt="12">
        <dgm:presLayoutVars/>
      </dgm:prSet>
      <dgm:spPr/>
    </dgm:pt>
    <dgm:pt modelId="{78562828-BCA2-4090-AF30-10C837021AB9}" type="pres">
      <dgm:prSet presAssocID="{0DC245D3-BFDA-4484-9DAC-97FBBBE9B60D}" presName="sibTrans" presStyleCnt="0"/>
      <dgm:spPr/>
    </dgm:pt>
    <dgm:pt modelId="{44AB85DC-A79E-476C-B985-B16EEB652082}" type="pres">
      <dgm:prSet presAssocID="{3E234D1E-1BBB-428A-80F5-D8B32F63E0E7}" presName="compNode" presStyleCnt="0"/>
      <dgm:spPr/>
    </dgm:pt>
    <dgm:pt modelId="{2F6ED6D6-1806-458C-B537-C2DF3B43527B}" type="pres">
      <dgm:prSet presAssocID="{3E234D1E-1BBB-428A-80F5-D8B32F63E0E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2C7BA93-8A58-4F04-8F0B-445C74727AF6}" type="pres">
      <dgm:prSet presAssocID="{3E234D1E-1BBB-428A-80F5-D8B32F63E0E7}" presName="iconSpace" presStyleCnt="0"/>
      <dgm:spPr/>
    </dgm:pt>
    <dgm:pt modelId="{76E8830E-B5C3-4233-829D-6625B2EF19C3}" type="pres">
      <dgm:prSet presAssocID="{3E234D1E-1BBB-428A-80F5-D8B32F63E0E7}" presName="parTx" presStyleLbl="revTx" presStyleIdx="6" presStyleCnt="12">
        <dgm:presLayoutVars>
          <dgm:chMax val="0"/>
          <dgm:chPref val="0"/>
        </dgm:presLayoutVars>
      </dgm:prSet>
      <dgm:spPr/>
    </dgm:pt>
    <dgm:pt modelId="{3533BE00-3976-4FDD-B008-A94B7A492CB9}" type="pres">
      <dgm:prSet presAssocID="{3E234D1E-1BBB-428A-80F5-D8B32F63E0E7}" presName="txSpace" presStyleCnt="0"/>
      <dgm:spPr/>
    </dgm:pt>
    <dgm:pt modelId="{AAAA8B59-9CF3-408B-A8EE-56F9CCD769D8}" type="pres">
      <dgm:prSet presAssocID="{3E234D1E-1BBB-428A-80F5-D8B32F63E0E7}" presName="desTx" presStyleLbl="revTx" presStyleIdx="7" presStyleCnt="12">
        <dgm:presLayoutVars/>
      </dgm:prSet>
      <dgm:spPr/>
    </dgm:pt>
    <dgm:pt modelId="{77652B67-64A0-468D-AEB3-9BF203AACFEB}" type="pres">
      <dgm:prSet presAssocID="{3A5D85FD-03E6-4A2D-83B8-A3B6AD419D28}" presName="sibTrans" presStyleCnt="0"/>
      <dgm:spPr/>
    </dgm:pt>
    <dgm:pt modelId="{DD390AA3-6994-4CB2-AB51-19A0E875DEAC}" type="pres">
      <dgm:prSet presAssocID="{6FD290A2-B653-478B-ACEB-8472BA891B71}" presName="compNode" presStyleCnt="0"/>
      <dgm:spPr/>
    </dgm:pt>
    <dgm:pt modelId="{E27E08FD-ACE0-41C3-8EAD-BD6989DED5B2}" type="pres">
      <dgm:prSet presAssocID="{6FD290A2-B653-478B-ACEB-8472BA891B7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02ACDE3C-E705-4658-B956-D6E5F34370C7}" type="pres">
      <dgm:prSet presAssocID="{6FD290A2-B653-478B-ACEB-8472BA891B71}" presName="iconSpace" presStyleCnt="0"/>
      <dgm:spPr/>
    </dgm:pt>
    <dgm:pt modelId="{523E76F8-54F2-42E0-8EFD-2F60F6263DF1}" type="pres">
      <dgm:prSet presAssocID="{6FD290A2-B653-478B-ACEB-8472BA891B71}" presName="parTx" presStyleLbl="revTx" presStyleIdx="8" presStyleCnt="12">
        <dgm:presLayoutVars>
          <dgm:chMax val="0"/>
          <dgm:chPref val="0"/>
        </dgm:presLayoutVars>
      </dgm:prSet>
      <dgm:spPr/>
    </dgm:pt>
    <dgm:pt modelId="{C1A45B1C-C68A-47B2-9B79-19631E284092}" type="pres">
      <dgm:prSet presAssocID="{6FD290A2-B653-478B-ACEB-8472BA891B71}" presName="txSpace" presStyleCnt="0"/>
      <dgm:spPr/>
    </dgm:pt>
    <dgm:pt modelId="{A15023F4-B4B3-454D-B4B7-D9D3E510715F}" type="pres">
      <dgm:prSet presAssocID="{6FD290A2-B653-478B-ACEB-8472BA891B71}" presName="desTx" presStyleLbl="revTx" presStyleIdx="9" presStyleCnt="12">
        <dgm:presLayoutVars/>
      </dgm:prSet>
      <dgm:spPr/>
    </dgm:pt>
    <dgm:pt modelId="{1D28292D-8B68-43B6-8030-89F3830E69D5}" type="pres">
      <dgm:prSet presAssocID="{F7AD3ACF-B49C-44F3-A55C-02D723C0288D}" presName="sibTrans" presStyleCnt="0"/>
      <dgm:spPr/>
    </dgm:pt>
    <dgm:pt modelId="{56A34CBF-297A-41D6-A51A-6300E08185DF}" type="pres">
      <dgm:prSet presAssocID="{4186F9D5-C14A-434A-A410-B68F7D3919C5}" presName="compNode" presStyleCnt="0"/>
      <dgm:spPr/>
    </dgm:pt>
    <dgm:pt modelId="{846270DA-AF4E-4BF0-9FBE-A137C2FA79BF}" type="pres">
      <dgm:prSet presAssocID="{4186F9D5-C14A-434A-A410-B68F7D3919C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CB6C360-A12F-44B1-BC68-5E99D0C925E3}" type="pres">
      <dgm:prSet presAssocID="{4186F9D5-C14A-434A-A410-B68F7D3919C5}" presName="iconSpace" presStyleCnt="0"/>
      <dgm:spPr/>
    </dgm:pt>
    <dgm:pt modelId="{1DF8870A-F561-44C6-9380-9BBB6CACCD41}" type="pres">
      <dgm:prSet presAssocID="{4186F9D5-C14A-434A-A410-B68F7D3919C5}" presName="parTx" presStyleLbl="revTx" presStyleIdx="10" presStyleCnt="12">
        <dgm:presLayoutVars>
          <dgm:chMax val="0"/>
          <dgm:chPref val="0"/>
        </dgm:presLayoutVars>
      </dgm:prSet>
      <dgm:spPr/>
    </dgm:pt>
    <dgm:pt modelId="{6E5D1FE2-B698-40AB-9892-736164B14CAF}" type="pres">
      <dgm:prSet presAssocID="{4186F9D5-C14A-434A-A410-B68F7D3919C5}" presName="txSpace" presStyleCnt="0"/>
      <dgm:spPr/>
    </dgm:pt>
    <dgm:pt modelId="{C8CCBA2E-3096-48C5-A1FE-635A9DCF02E3}" type="pres">
      <dgm:prSet presAssocID="{4186F9D5-C14A-434A-A410-B68F7D3919C5}" presName="desTx" presStyleLbl="revTx" presStyleIdx="11" presStyleCnt="12">
        <dgm:presLayoutVars/>
      </dgm:prSet>
      <dgm:spPr/>
    </dgm:pt>
  </dgm:ptLst>
  <dgm:cxnLst>
    <dgm:cxn modelId="{425E4007-2796-4466-B726-590F74D7DAB8}" srcId="{090017E3-DE44-4C05-96D3-9A092AC4871C}" destId="{0D7BF0EF-F425-4BE1-AF58-34D3BBDEAE4F}" srcOrd="0" destOrd="0" parTransId="{63BCDD0A-1ED1-459D-B61C-798CB62FFC57}" sibTransId="{8D43D9F6-366E-4C45-B28C-75BC322CADC3}"/>
    <dgm:cxn modelId="{E35D0818-6A1E-43EE-A54E-BBD93E22132D}" srcId="{C6122839-D07A-4238-966B-1E0498DF14AA}" destId="{5503CAEE-9867-46C2-9BFB-5CDA8CAD9A46}" srcOrd="1" destOrd="0" parTransId="{1C552017-3836-4F2A-9DCF-FE59B7E9E770}" sibTransId="{509248C9-5E59-4C46-9BCD-28494062B076}"/>
    <dgm:cxn modelId="{98344118-B8E1-4ED0-BF87-C1929DA99C3C}" srcId="{5503CAEE-9867-46C2-9BFB-5CDA8CAD9A46}" destId="{2BBFA2F5-9E3F-4C82-97A2-C6766160CC2D}" srcOrd="0" destOrd="0" parTransId="{45D1B127-3177-4B27-ACC7-FEC38515328A}" sibTransId="{49310135-3E7D-49B0-85B7-0216ED805766}"/>
    <dgm:cxn modelId="{3BE72B19-C763-431D-9822-0F0981370E6B}" srcId="{3E234D1E-1BBB-428A-80F5-D8B32F63E0E7}" destId="{AE26AE93-57AA-487F-85C1-76436FD7696F}" srcOrd="1" destOrd="0" parTransId="{6077BC89-0C5D-4E6F-AA85-91DFA2B94EDF}" sibTransId="{7833DF38-082C-4BA3-A5DC-401C020E4B07}"/>
    <dgm:cxn modelId="{5F287324-ABA8-4E36-90B0-2CFFE955FE36}" type="presOf" srcId="{C01D136F-9141-4C07-B2C9-D35FDDBF25CC}" destId="{AAAA8B59-9CF3-408B-A8EE-56F9CCD769D8}" srcOrd="0" destOrd="0" presId="urn:microsoft.com/office/officeart/2018/2/layout/IconLabelDescriptionList"/>
    <dgm:cxn modelId="{DF74D225-6F8C-464D-8763-50323EBD3B5B}" type="presOf" srcId="{2BBFA2F5-9E3F-4C82-97A2-C6766160CC2D}" destId="{304B31EA-3E4A-4381-BAE1-F2565853A983}" srcOrd="0" destOrd="0" presId="urn:microsoft.com/office/officeart/2018/2/layout/IconLabelDescriptionList"/>
    <dgm:cxn modelId="{B2004929-25D9-43A3-AAAF-13BC793D1975}" type="presOf" srcId="{3350B7E7-AC7A-4E40-A4A5-238F1D4FC779}" destId="{BCD9B3B3-0796-4C6C-A8CC-9E7861F09E55}" srcOrd="0" destOrd="1" presId="urn:microsoft.com/office/officeart/2018/2/layout/IconLabelDescriptionList"/>
    <dgm:cxn modelId="{A2F0DB33-4FAC-4715-AB7B-6B10B7C60C5C}" type="presOf" srcId="{53F62846-6549-4060-8098-750C9B6A7508}" destId="{BCD9B3B3-0796-4C6C-A8CC-9E7861F09E55}" srcOrd="0" destOrd="0" presId="urn:microsoft.com/office/officeart/2018/2/layout/IconLabelDescriptionList"/>
    <dgm:cxn modelId="{08801A3A-AC6C-4B09-B9CD-63255071DDDA}" type="presOf" srcId="{74E46448-9CA0-47A2-A041-CDCA9E05BCD4}" destId="{C8CCBA2E-3096-48C5-A1FE-635A9DCF02E3}" srcOrd="0" destOrd="1" presId="urn:microsoft.com/office/officeart/2018/2/layout/IconLabelDescriptionList"/>
    <dgm:cxn modelId="{04B32A60-9D3E-42B4-8CDA-A79AB8157F1B}" type="presOf" srcId="{C6122839-D07A-4238-966B-1E0498DF14AA}" destId="{73107B5E-B4F6-4A81-967A-145BA0007659}" srcOrd="0" destOrd="0" presId="urn:microsoft.com/office/officeart/2018/2/layout/IconLabelDescriptionList"/>
    <dgm:cxn modelId="{C0CF6760-879E-44AD-A029-FC6D4C033D43}" type="presOf" srcId="{090017E3-DE44-4C05-96D3-9A092AC4871C}" destId="{2149DE5A-E466-4ADE-8BBE-B14CE04348F7}" srcOrd="0" destOrd="0" presId="urn:microsoft.com/office/officeart/2018/2/layout/IconLabelDescriptionList"/>
    <dgm:cxn modelId="{3A148243-920F-4A4A-959D-AB9231E084CE}" type="presOf" srcId="{0D7BF0EF-F425-4BE1-AF58-34D3BBDEAE4F}" destId="{B3A0D9B1-1D0C-4F40-92E3-A812EC091383}" srcOrd="0" destOrd="0" presId="urn:microsoft.com/office/officeart/2018/2/layout/IconLabelDescriptionList"/>
    <dgm:cxn modelId="{1FDB9E65-F01A-4C52-8D5F-DB137CF01DB5}" type="presOf" srcId="{86C719A4-E769-40D4-BB01-5AD65B707879}" destId="{C8CCBA2E-3096-48C5-A1FE-635A9DCF02E3}" srcOrd="0" destOrd="0" presId="urn:microsoft.com/office/officeart/2018/2/layout/IconLabelDescriptionList"/>
    <dgm:cxn modelId="{F155E16F-2279-45CD-84C4-6D5DD01A3AE0}" type="presOf" srcId="{BFD12A21-1DCF-4771-8660-BCC5C5DCFAA4}" destId="{A15023F4-B4B3-454D-B4B7-D9D3E510715F}" srcOrd="0" destOrd="1" presId="urn:microsoft.com/office/officeart/2018/2/layout/IconLabelDescriptionList"/>
    <dgm:cxn modelId="{2D5ADB7F-20F6-4AAB-81A9-5DFE503AACF9}" srcId="{C6122839-D07A-4238-966B-1E0498DF14AA}" destId="{3E234D1E-1BBB-428A-80F5-D8B32F63E0E7}" srcOrd="3" destOrd="0" parTransId="{A3813CE1-0E65-4714-AC3E-04555E172135}" sibTransId="{3A5D85FD-03E6-4A2D-83B8-A3B6AD419D28}"/>
    <dgm:cxn modelId="{43F14980-8118-45C4-8E8C-681759C65132}" type="presOf" srcId="{54DFEC72-9A0A-4657-90E7-0049D4FA5038}" destId="{A15023F4-B4B3-454D-B4B7-D9D3E510715F}" srcOrd="0" destOrd="0" presId="urn:microsoft.com/office/officeart/2018/2/layout/IconLabelDescriptionList"/>
    <dgm:cxn modelId="{3141158F-ABF6-466B-903F-87BB29C77D8C}" type="presOf" srcId="{7CA5A626-9D77-43A8-9D05-8D18624C7CF4}" destId="{B3A0D9B1-1D0C-4F40-92E3-A812EC091383}" srcOrd="0" destOrd="1" presId="urn:microsoft.com/office/officeart/2018/2/layout/IconLabelDescriptionList"/>
    <dgm:cxn modelId="{0F1DD695-C8EF-4502-9DD2-1F9C21582B18}" srcId="{6FD290A2-B653-478B-ACEB-8472BA891B71}" destId="{BFD12A21-1DCF-4771-8660-BCC5C5DCFAA4}" srcOrd="1" destOrd="0" parTransId="{A8415F5B-A7E5-4F93-B13B-1D7F4B75746F}" sibTransId="{2E36CEB0-3128-40C3-8A29-E6018F2294FB}"/>
    <dgm:cxn modelId="{A270E69E-FFBC-47C4-848B-3012DC33FED2}" type="presOf" srcId="{6FD290A2-B653-478B-ACEB-8472BA891B71}" destId="{523E76F8-54F2-42E0-8EFD-2F60F6263DF1}" srcOrd="0" destOrd="0" presId="urn:microsoft.com/office/officeart/2018/2/layout/IconLabelDescriptionList"/>
    <dgm:cxn modelId="{9A3D62A0-C167-435E-A436-95CFF464612E}" srcId="{C6122839-D07A-4238-966B-1E0498DF14AA}" destId="{6FD290A2-B653-478B-ACEB-8472BA891B71}" srcOrd="4" destOrd="0" parTransId="{08988A9E-1F0A-45EB-BEAA-5567AD130884}" sibTransId="{F7AD3ACF-B49C-44F3-A55C-02D723C0288D}"/>
    <dgm:cxn modelId="{8A0F18A4-EB7F-4948-A25B-D1C4E2E6AAF3}" srcId="{C6122839-D07A-4238-966B-1E0498DF14AA}" destId="{4186F9D5-C14A-434A-A410-B68F7D3919C5}" srcOrd="5" destOrd="0" parTransId="{46A0DCBE-D9A5-4360-8BF3-9803AA284162}" sibTransId="{5E928290-59AD-4C7E-812C-E706AA883A44}"/>
    <dgm:cxn modelId="{D41B55A7-FE5F-4EDF-9BA3-173F9BC6E32C}" srcId="{6FD290A2-B653-478B-ACEB-8472BA891B71}" destId="{54DFEC72-9A0A-4657-90E7-0049D4FA5038}" srcOrd="0" destOrd="0" parTransId="{31BF78D7-E621-458A-9AB1-4C2EF6D01419}" sibTransId="{45AE5927-20CA-43DD-91EC-23AEA1F51482}"/>
    <dgm:cxn modelId="{ADF490A7-5366-4481-BCDE-0C5059B9A840}" type="presOf" srcId="{4186F9D5-C14A-434A-A410-B68F7D3919C5}" destId="{1DF8870A-F561-44C6-9380-9BBB6CACCD41}" srcOrd="0" destOrd="0" presId="urn:microsoft.com/office/officeart/2018/2/layout/IconLabelDescriptionList"/>
    <dgm:cxn modelId="{F8F662A9-D904-43A9-A63C-91420C8E6B24}" srcId="{EBAAF069-F0FA-4FCE-B244-83E76F57B68A}" destId="{53F62846-6549-4060-8098-750C9B6A7508}" srcOrd="0" destOrd="0" parTransId="{D3234330-13C0-4610-9B3F-CEDC7B195FD3}" sibTransId="{3CE43EC2-3254-4E0E-800A-8F992BE9E4BE}"/>
    <dgm:cxn modelId="{564498B3-16AB-4FDE-B227-62F4DC3C54D7}" type="presOf" srcId="{AE26AE93-57AA-487F-85C1-76436FD7696F}" destId="{AAAA8B59-9CF3-408B-A8EE-56F9CCD769D8}" srcOrd="0" destOrd="1" presId="urn:microsoft.com/office/officeart/2018/2/layout/IconLabelDescriptionList"/>
    <dgm:cxn modelId="{463A20B5-83C0-44A6-BF1A-6B8A979F76C5}" srcId="{090017E3-DE44-4C05-96D3-9A092AC4871C}" destId="{7CA5A626-9D77-43A8-9D05-8D18624C7CF4}" srcOrd="1" destOrd="0" parTransId="{F6F3825B-A406-405F-B0BD-508BCC25184D}" sibTransId="{FE1B0194-4E65-44A5-AB43-03DA0DC69E96}"/>
    <dgm:cxn modelId="{93343AC0-4DC7-4279-8569-104E3DDBA294}" type="presOf" srcId="{4C92DC54-FC27-416C-B13C-63A4A4344A1F}" destId="{304B31EA-3E4A-4381-BAE1-F2565853A983}" srcOrd="0" destOrd="1" presId="urn:microsoft.com/office/officeart/2018/2/layout/IconLabelDescriptionList"/>
    <dgm:cxn modelId="{8CC9B7C4-6CC3-4697-A8BB-6A7512607DB5}" type="presOf" srcId="{3E234D1E-1BBB-428A-80F5-D8B32F63E0E7}" destId="{76E8830E-B5C3-4233-829D-6625B2EF19C3}" srcOrd="0" destOrd="0" presId="urn:microsoft.com/office/officeart/2018/2/layout/IconLabelDescriptionList"/>
    <dgm:cxn modelId="{910CFCCE-5C49-408A-A770-FF5EECBBCF8F}" srcId="{EBAAF069-F0FA-4FCE-B244-83E76F57B68A}" destId="{3350B7E7-AC7A-4E40-A4A5-238F1D4FC779}" srcOrd="1" destOrd="0" parTransId="{BFC002F3-D8FC-4DD3-AAB2-1057A937CE3D}" sibTransId="{05FCA000-21A4-4D79-AC78-D284E8A72196}"/>
    <dgm:cxn modelId="{256C2FD9-6ECD-48CC-A9E1-2750B6D8FBF4}" srcId="{5503CAEE-9867-46C2-9BFB-5CDA8CAD9A46}" destId="{4C92DC54-FC27-416C-B13C-63A4A4344A1F}" srcOrd="1" destOrd="0" parTransId="{B74A0DC4-F785-4478-A0C5-84663DB629FC}" sibTransId="{0F435659-6A00-4344-92F0-7189C3532C2D}"/>
    <dgm:cxn modelId="{355950DA-F66E-49E5-B979-82B7B2947CD4}" type="presOf" srcId="{5503CAEE-9867-46C2-9BFB-5CDA8CAD9A46}" destId="{91791DC4-60B0-4DE3-B791-D98D138EC16B}" srcOrd="0" destOrd="0" presId="urn:microsoft.com/office/officeart/2018/2/layout/IconLabelDescriptionList"/>
    <dgm:cxn modelId="{E01916DD-7C28-4732-9044-67102DEDA4EF}" srcId="{4186F9D5-C14A-434A-A410-B68F7D3919C5}" destId="{74E46448-9CA0-47A2-A041-CDCA9E05BCD4}" srcOrd="1" destOrd="0" parTransId="{F0187301-E66B-4931-AE46-26F0090D5915}" sibTransId="{23FDA206-0ED9-433E-B230-9CD1C42A10BA}"/>
    <dgm:cxn modelId="{48F345E9-DA15-43CD-9A13-21A219686055}" srcId="{C6122839-D07A-4238-966B-1E0498DF14AA}" destId="{EBAAF069-F0FA-4FCE-B244-83E76F57B68A}" srcOrd="2" destOrd="0" parTransId="{6EDA9874-9BED-4600-AC7A-B639EE9DA730}" sibTransId="{0DC245D3-BFDA-4484-9DAC-97FBBBE9B60D}"/>
    <dgm:cxn modelId="{6F7801F6-719F-4EE8-A59E-025E1DF21C4B}" srcId="{4186F9D5-C14A-434A-A410-B68F7D3919C5}" destId="{86C719A4-E769-40D4-BB01-5AD65B707879}" srcOrd="0" destOrd="0" parTransId="{38F009CD-75CC-4178-9E0C-B9CD4B6EC62E}" sibTransId="{F2908873-7DEC-4EE3-87E1-710F03517747}"/>
    <dgm:cxn modelId="{879349FA-F3FF-4293-ADAF-9C89EBA6F6AD}" srcId="{C6122839-D07A-4238-966B-1E0498DF14AA}" destId="{090017E3-DE44-4C05-96D3-9A092AC4871C}" srcOrd="0" destOrd="0" parTransId="{C707ACF0-2780-4AF9-9145-7993DFF4901A}" sibTransId="{73E0B78F-5CCD-46D7-BD5F-3926220E963F}"/>
    <dgm:cxn modelId="{3C61D8FA-8CDD-4405-8E44-C840788F5FCE}" srcId="{3E234D1E-1BBB-428A-80F5-D8B32F63E0E7}" destId="{C01D136F-9141-4C07-B2C9-D35FDDBF25CC}" srcOrd="0" destOrd="0" parTransId="{7F24CACB-4643-448A-8078-64A0A8FBCC84}" sibTransId="{938A009F-7A18-4ABF-80D2-C7999271A5C0}"/>
    <dgm:cxn modelId="{B0CE8AFD-F8BC-4253-B8E1-610F496233F6}" type="presOf" srcId="{EBAAF069-F0FA-4FCE-B244-83E76F57B68A}" destId="{8188E94A-723F-4BF9-9061-9834B5F69D96}" srcOrd="0" destOrd="0" presId="urn:microsoft.com/office/officeart/2018/2/layout/IconLabelDescriptionList"/>
    <dgm:cxn modelId="{CFE49426-4A7F-41B8-93E5-08FF7F71BAC2}" type="presParOf" srcId="{73107B5E-B4F6-4A81-967A-145BA0007659}" destId="{93449192-34A5-4EB9-8B32-777BA082F499}" srcOrd="0" destOrd="0" presId="urn:microsoft.com/office/officeart/2018/2/layout/IconLabelDescriptionList"/>
    <dgm:cxn modelId="{7F385872-CB91-4DB4-B63A-F6BA8FEC0E68}" type="presParOf" srcId="{93449192-34A5-4EB9-8B32-777BA082F499}" destId="{B7859076-AB96-44EB-B7D8-8FFB45E04774}" srcOrd="0" destOrd="0" presId="urn:microsoft.com/office/officeart/2018/2/layout/IconLabelDescriptionList"/>
    <dgm:cxn modelId="{76161422-0589-4C83-AF01-F33125079F64}" type="presParOf" srcId="{93449192-34A5-4EB9-8B32-777BA082F499}" destId="{47186F5A-9F33-492C-AA17-1E27E25F1D00}" srcOrd="1" destOrd="0" presId="urn:microsoft.com/office/officeart/2018/2/layout/IconLabelDescriptionList"/>
    <dgm:cxn modelId="{5703FBB7-56B6-4F45-B6B2-9060E50995D7}" type="presParOf" srcId="{93449192-34A5-4EB9-8B32-777BA082F499}" destId="{2149DE5A-E466-4ADE-8BBE-B14CE04348F7}" srcOrd="2" destOrd="0" presId="urn:microsoft.com/office/officeart/2018/2/layout/IconLabelDescriptionList"/>
    <dgm:cxn modelId="{2FE487A3-9732-4474-9364-2A9F22E0E7E3}" type="presParOf" srcId="{93449192-34A5-4EB9-8B32-777BA082F499}" destId="{B16F80F7-01AD-4C7F-95CC-BC1BAF7A0507}" srcOrd="3" destOrd="0" presId="urn:microsoft.com/office/officeart/2018/2/layout/IconLabelDescriptionList"/>
    <dgm:cxn modelId="{602467BB-57B5-4526-8D80-8449B83C6FB4}" type="presParOf" srcId="{93449192-34A5-4EB9-8B32-777BA082F499}" destId="{B3A0D9B1-1D0C-4F40-92E3-A812EC091383}" srcOrd="4" destOrd="0" presId="urn:microsoft.com/office/officeart/2018/2/layout/IconLabelDescriptionList"/>
    <dgm:cxn modelId="{94D8D7FA-1062-4B70-9A97-F0AC8413E91D}" type="presParOf" srcId="{73107B5E-B4F6-4A81-967A-145BA0007659}" destId="{3F817E99-26A7-4083-8C2E-F5D1F2AD157E}" srcOrd="1" destOrd="0" presId="urn:microsoft.com/office/officeart/2018/2/layout/IconLabelDescriptionList"/>
    <dgm:cxn modelId="{4AD90F32-0379-40E2-9395-B1BD1BC36945}" type="presParOf" srcId="{73107B5E-B4F6-4A81-967A-145BA0007659}" destId="{8A6EF8D9-DD35-4F68-9351-BA7394407932}" srcOrd="2" destOrd="0" presId="urn:microsoft.com/office/officeart/2018/2/layout/IconLabelDescriptionList"/>
    <dgm:cxn modelId="{8DD9AD83-A04A-4E89-AB51-2FD9A2E770FF}" type="presParOf" srcId="{8A6EF8D9-DD35-4F68-9351-BA7394407932}" destId="{658E66C6-C0FE-4288-895D-AE2248815413}" srcOrd="0" destOrd="0" presId="urn:microsoft.com/office/officeart/2018/2/layout/IconLabelDescriptionList"/>
    <dgm:cxn modelId="{43B8712F-DA82-467B-B640-BF9D94045E6A}" type="presParOf" srcId="{8A6EF8D9-DD35-4F68-9351-BA7394407932}" destId="{EABE61C9-1C46-4FE0-AEF2-9EA423214DBA}" srcOrd="1" destOrd="0" presId="urn:microsoft.com/office/officeart/2018/2/layout/IconLabelDescriptionList"/>
    <dgm:cxn modelId="{1DCAA492-6B7C-49C8-B1E6-94F401283448}" type="presParOf" srcId="{8A6EF8D9-DD35-4F68-9351-BA7394407932}" destId="{91791DC4-60B0-4DE3-B791-D98D138EC16B}" srcOrd="2" destOrd="0" presId="urn:microsoft.com/office/officeart/2018/2/layout/IconLabelDescriptionList"/>
    <dgm:cxn modelId="{200B0F2C-2700-4361-BF52-7F2A6FC1F79A}" type="presParOf" srcId="{8A6EF8D9-DD35-4F68-9351-BA7394407932}" destId="{FA8263AC-F753-41D3-9AA6-966473FD6968}" srcOrd="3" destOrd="0" presId="urn:microsoft.com/office/officeart/2018/2/layout/IconLabelDescriptionList"/>
    <dgm:cxn modelId="{55AA2A0B-F2B3-44E5-92D9-72ED224157BE}" type="presParOf" srcId="{8A6EF8D9-DD35-4F68-9351-BA7394407932}" destId="{304B31EA-3E4A-4381-BAE1-F2565853A983}" srcOrd="4" destOrd="0" presId="urn:microsoft.com/office/officeart/2018/2/layout/IconLabelDescriptionList"/>
    <dgm:cxn modelId="{A5EA5E93-5D02-4A5D-96E9-47DDD54B43AC}" type="presParOf" srcId="{73107B5E-B4F6-4A81-967A-145BA0007659}" destId="{D399D1E6-FAC5-44DE-8930-12521EB6F707}" srcOrd="3" destOrd="0" presId="urn:microsoft.com/office/officeart/2018/2/layout/IconLabelDescriptionList"/>
    <dgm:cxn modelId="{1123F22A-C3E4-4CB9-A987-8A1A240B27A0}" type="presParOf" srcId="{73107B5E-B4F6-4A81-967A-145BA0007659}" destId="{EB16F322-77C6-4320-A85B-EB715585C418}" srcOrd="4" destOrd="0" presId="urn:microsoft.com/office/officeart/2018/2/layout/IconLabelDescriptionList"/>
    <dgm:cxn modelId="{3B98F85C-09F6-4B53-A5F0-F76257D7BFA2}" type="presParOf" srcId="{EB16F322-77C6-4320-A85B-EB715585C418}" destId="{974BEEDB-C837-404E-815D-AB56F88F78CF}" srcOrd="0" destOrd="0" presId="urn:microsoft.com/office/officeart/2018/2/layout/IconLabelDescriptionList"/>
    <dgm:cxn modelId="{C89108E4-22DE-4E23-9EF3-20869A0D1122}" type="presParOf" srcId="{EB16F322-77C6-4320-A85B-EB715585C418}" destId="{B0D5B45D-9208-479D-82A8-822CDEB7B465}" srcOrd="1" destOrd="0" presId="urn:microsoft.com/office/officeart/2018/2/layout/IconLabelDescriptionList"/>
    <dgm:cxn modelId="{CDF3972A-7750-4F4C-B303-F232BF95D4A0}" type="presParOf" srcId="{EB16F322-77C6-4320-A85B-EB715585C418}" destId="{8188E94A-723F-4BF9-9061-9834B5F69D96}" srcOrd="2" destOrd="0" presId="urn:microsoft.com/office/officeart/2018/2/layout/IconLabelDescriptionList"/>
    <dgm:cxn modelId="{ECB7146E-11CE-45A4-B5A9-CCE9AAF0F72C}" type="presParOf" srcId="{EB16F322-77C6-4320-A85B-EB715585C418}" destId="{3FB7962A-FBE2-4A4E-B701-D80E83159EFC}" srcOrd="3" destOrd="0" presId="urn:microsoft.com/office/officeart/2018/2/layout/IconLabelDescriptionList"/>
    <dgm:cxn modelId="{BC2B4912-A91B-451D-90D2-4D8B47935ED5}" type="presParOf" srcId="{EB16F322-77C6-4320-A85B-EB715585C418}" destId="{BCD9B3B3-0796-4C6C-A8CC-9E7861F09E55}" srcOrd="4" destOrd="0" presId="urn:microsoft.com/office/officeart/2018/2/layout/IconLabelDescriptionList"/>
    <dgm:cxn modelId="{918E9D97-F7B4-4DA9-AF0A-645789643C31}" type="presParOf" srcId="{73107B5E-B4F6-4A81-967A-145BA0007659}" destId="{78562828-BCA2-4090-AF30-10C837021AB9}" srcOrd="5" destOrd="0" presId="urn:microsoft.com/office/officeart/2018/2/layout/IconLabelDescriptionList"/>
    <dgm:cxn modelId="{CDB8966E-D2EE-4275-B0F8-CF5CC20FAE10}" type="presParOf" srcId="{73107B5E-B4F6-4A81-967A-145BA0007659}" destId="{44AB85DC-A79E-476C-B985-B16EEB652082}" srcOrd="6" destOrd="0" presId="urn:microsoft.com/office/officeart/2018/2/layout/IconLabelDescriptionList"/>
    <dgm:cxn modelId="{9E6DA227-26F9-4AD9-B701-37F933406F42}" type="presParOf" srcId="{44AB85DC-A79E-476C-B985-B16EEB652082}" destId="{2F6ED6D6-1806-458C-B537-C2DF3B43527B}" srcOrd="0" destOrd="0" presId="urn:microsoft.com/office/officeart/2018/2/layout/IconLabelDescriptionList"/>
    <dgm:cxn modelId="{34600C99-7D0E-45BC-A588-8DF6D3A22FD0}" type="presParOf" srcId="{44AB85DC-A79E-476C-B985-B16EEB652082}" destId="{52C7BA93-8A58-4F04-8F0B-445C74727AF6}" srcOrd="1" destOrd="0" presId="urn:microsoft.com/office/officeart/2018/2/layout/IconLabelDescriptionList"/>
    <dgm:cxn modelId="{9C21FD74-C33F-4D7A-8925-72CC35987039}" type="presParOf" srcId="{44AB85DC-A79E-476C-B985-B16EEB652082}" destId="{76E8830E-B5C3-4233-829D-6625B2EF19C3}" srcOrd="2" destOrd="0" presId="urn:microsoft.com/office/officeart/2018/2/layout/IconLabelDescriptionList"/>
    <dgm:cxn modelId="{C19C992D-DA00-4271-8256-C61570B252E8}" type="presParOf" srcId="{44AB85DC-A79E-476C-B985-B16EEB652082}" destId="{3533BE00-3976-4FDD-B008-A94B7A492CB9}" srcOrd="3" destOrd="0" presId="urn:microsoft.com/office/officeart/2018/2/layout/IconLabelDescriptionList"/>
    <dgm:cxn modelId="{A239DBCF-1AD3-410F-ACA4-9A3302AAE708}" type="presParOf" srcId="{44AB85DC-A79E-476C-B985-B16EEB652082}" destId="{AAAA8B59-9CF3-408B-A8EE-56F9CCD769D8}" srcOrd="4" destOrd="0" presId="urn:microsoft.com/office/officeart/2018/2/layout/IconLabelDescriptionList"/>
    <dgm:cxn modelId="{F36415A0-0780-488B-B4EB-F0D88D092744}" type="presParOf" srcId="{73107B5E-B4F6-4A81-967A-145BA0007659}" destId="{77652B67-64A0-468D-AEB3-9BF203AACFEB}" srcOrd="7" destOrd="0" presId="urn:microsoft.com/office/officeart/2018/2/layout/IconLabelDescriptionList"/>
    <dgm:cxn modelId="{15129D36-24AF-4461-AB7A-8A9ECC8D9E4D}" type="presParOf" srcId="{73107B5E-B4F6-4A81-967A-145BA0007659}" destId="{DD390AA3-6994-4CB2-AB51-19A0E875DEAC}" srcOrd="8" destOrd="0" presId="urn:microsoft.com/office/officeart/2018/2/layout/IconLabelDescriptionList"/>
    <dgm:cxn modelId="{D645F4AC-2A5A-43F7-9CB8-17418149B447}" type="presParOf" srcId="{DD390AA3-6994-4CB2-AB51-19A0E875DEAC}" destId="{E27E08FD-ACE0-41C3-8EAD-BD6989DED5B2}" srcOrd="0" destOrd="0" presId="urn:microsoft.com/office/officeart/2018/2/layout/IconLabelDescriptionList"/>
    <dgm:cxn modelId="{49577B61-DFA0-45D0-924F-1EC9FEDBAA38}" type="presParOf" srcId="{DD390AA3-6994-4CB2-AB51-19A0E875DEAC}" destId="{02ACDE3C-E705-4658-B956-D6E5F34370C7}" srcOrd="1" destOrd="0" presId="urn:microsoft.com/office/officeart/2018/2/layout/IconLabelDescriptionList"/>
    <dgm:cxn modelId="{BD577F20-FB28-40E5-BB9A-903673F75240}" type="presParOf" srcId="{DD390AA3-6994-4CB2-AB51-19A0E875DEAC}" destId="{523E76F8-54F2-42E0-8EFD-2F60F6263DF1}" srcOrd="2" destOrd="0" presId="urn:microsoft.com/office/officeart/2018/2/layout/IconLabelDescriptionList"/>
    <dgm:cxn modelId="{BE903D74-A954-4800-AF39-DC9BE1CF9A4E}" type="presParOf" srcId="{DD390AA3-6994-4CB2-AB51-19A0E875DEAC}" destId="{C1A45B1C-C68A-47B2-9B79-19631E284092}" srcOrd="3" destOrd="0" presId="urn:microsoft.com/office/officeart/2018/2/layout/IconLabelDescriptionList"/>
    <dgm:cxn modelId="{542518A7-6EC9-4242-A2D1-D8570FEC0580}" type="presParOf" srcId="{DD390AA3-6994-4CB2-AB51-19A0E875DEAC}" destId="{A15023F4-B4B3-454D-B4B7-D9D3E510715F}" srcOrd="4" destOrd="0" presId="urn:microsoft.com/office/officeart/2018/2/layout/IconLabelDescriptionList"/>
    <dgm:cxn modelId="{6C1759B6-9367-4E17-A19B-C50AB9CF66C1}" type="presParOf" srcId="{73107B5E-B4F6-4A81-967A-145BA0007659}" destId="{1D28292D-8B68-43B6-8030-89F3830E69D5}" srcOrd="9" destOrd="0" presId="urn:microsoft.com/office/officeart/2018/2/layout/IconLabelDescriptionList"/>
    <dgm:cxn modelId="{AC1B98D4-313E-47BC-8FFC-1B417D347723}" type="presParOf" srcId="{73107B5E-B4F6-4A81-967A-145BA0007659}" destId="{56A34CBF-297A-41D6-A51A-6300E08185DF}" srcOrd="10" destOrd="0" presId="urn:microsoft.com/office/officeart/2018/2/layout/IconLabelDescriptionList"/>
    <dgm:cxn modelId="{03289CC3-CF64-4690-8541-6D0EC70B4DB5}" type="presParOf" srcId="{56A34CBF-297A-41D6-A51A-6300E08185DF}" destId="{846270DA-AF4E-4BF0-9FBE-A137C2FA79BF}" srcOrd="0" destOrd="0" presId="urn:microsoft.com/office/officeart/2018/2/layout/IconLabelDescriptionList"/>
    <dgm:cxn modelId="{5FA4A4C3-9B0F-4F00-8D8E-BA824999BBAA}" type="presParOf" srcId="{56A34CBF-297A-41D6-A51A-6300E08185DF}" destId="{9CB6C360-A12F-44B1-BC68-5E99D0C925E3}" srcOrd="1" destOrd="0" presId="urn:microsoft.com/office/officeart/2018/2/layout/IconLabelDescriptionList"/>
    <dgm:cxn modelId="{87DD1AB2-445D-4113-9837-305991136A9A}" type="presParOf" srcId="{56A34CBF-297A-41D6-A51A-6300E08185DF}" destId="{1DF8870A-F561-44C6-9380-9BBB6CACCD41}" srcOrd="2" destOrd="0" presId="urn:microsoft.com/office/officeart/2018/2/layout/IconLabelDescriptionList"/>
    <dgm:cxn modelId="{D41F9872-4E6D-4999-B6B4-66BC164D88C9}" type="presParOf" srcId="{56A34CBF-297A-41D6-A51A-6300E08185DF}" destId="{6E5D1FE2-B698-40AB-9892-736164B14CAF}" srcOrd="3" destOrd="0" presId="urn:microsoft.com/office/officeart/2018/2/layout/IconLabelDescriptionList"/>
    <dgm:cxn modelId="{7118F312-1E98-46F5-8022-DF43F6A8FF65}" type="presParOf" srcId="{56A34CBF-297A-41D6-A51A-6300E08185DF}" destId="{C8CCBA2E-3096-48C5-A1FE-635A9DCF02E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2E682A-6A62-47AA-8B92-882D2E526C83}">
      <dsp:nvSpPr>
        <dsp:cNvPr id="0" name=""/>
        <dsp:cNvSpPr/>
      </dsp:nvSpPr>
      <dsp:spPr>
        <a:xfrm>
          <a:off x="1073586" y="3281"/>
          <a:ext cx="2710383" cy="162623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The risk model effectively flagged high-risk posts with stable negative emotions and crisis keywords.</a:t>
          </a:r>
          <a:endParaRPr lang="en-US" sz="1600" kern="1200"/>
        </a:p>
      </dsp:txBody>
      <dsp:txXfrm>
        <a:off x="1073586" y="3281"/>
        <a:ext cx="2710383" cy="1626230"/>
      </dsp:txXfrm>
    </dsp:sp>
    <dsp:sp modelId="{7F628853-A5BD-47A7-8B06-291C63CD1160}">
      <dsp:nvSpPr>
        <dsp:cNvPr id="0" name=""/>
        <dsp:cNvSpPr/>
      </dsp:nvSpPr>
      <dsp:spPr>
        <a:xfrm>
          <a:off x="4055008" y="3281"/>
          <a:ext cx="2710383" cy="16262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Hopeful reframing lowered risk scores in some posts, supporting cognitive behavioral therapy ideas.</a:t>
          </a:r>
          <a:endParaRPr lang="en-US" sz="1600" kern="1200"/>
        </a:p>
      </dsp:txBody>
      <dsp:txXfrm>
        <a:off x="4055008" y="3281"/>
        <a:ext cx="2710383" cy="1626230"/>
      </dsp:txXfrm>
    </dsp:sp>
    <dsp:sp modelId="{209CDED0-83A8-4C95-AC49-34ED4B2DF873}">
      <dsp:nvSpPr>
        <dsp:cNvPr id="0" name=""/>
        <dsp:cNvSpPr/>
      </dsp:nvSpPr>
      <dsp:spPr>
        <a:xfrm>
          <a:off x="7036430" y="3281"/>
          <a:ext cx="2710383" cy="162623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Posts with explicit suicidal language remained high risk, ensuring safety.</a:t>
          </a:r>
          <a:endParaRPr lang="en-US" sz="1600" kern="1200"/>
        </a:p>
      </dsp:txBody>
      <dsp:txXfrm>
        <a:off x="7036430" y="3281"/>
        <a:ext cx="2710383" cy="1626230"/>
      </dsp:txXfrm>
    </dsp:sp>
    <dsp:sp modelId="{560FAAB9-5144-4329-8590-DFA85CE1CAF6}">
      <dsp:nvSpPr>
        <dsp:cNvPr id="0" name=""/>
        <dsp:cNvSpPr/>
      </dsp:nvSpPr>
      <dsp:spPr>
        <a:xfrm>
          <a:off x="1073586" y="1900550"/>
          <a:ext cx="2710383" cy="162623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Emotion arc classifier achieved 55% accuracy; stable emotions were easier to detect than emotional shifts.</a:t>
          </a:r>
          <a:endParaRPr lang="en-US" sz="1600" kern="1200"/>
        </a:p>
      </dsp:txBody>
      <dsp:txXfrm>
        <a:off x="1073586" y="1900550"/>
        <a:ext cx="2710383" cy="1626230"/>
      </dsp:txXfrm>
    </dsp:sp>
    <dsp:sp modelId="{3F31512D-66C7-43C4-8E20-E339E2BB588D}">
      <dsp:nvSpPr>
        <dsp:cNvPr id="0" name=""/>
        <dsp:cNvSpPr/>
      </dsp:nvSpPr>
      <dsp:spPr>
        <a:xfrm>
          <a:off x="4055008" y="1900550"/>
          <a:ext cx="2710383" cy="162623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Key positive emotional shifts (“turning points”) appeared mid-post, offering intervention opportunities.</a:t>
          </a:r>
          <a:endParaRPr lang="en-US" sz="1600" kern="1200"/>
        </a:p>
      </dsp:txBody>
      <dsp:txXfrm>
        <a:off x="4055008" y="1900550"/>
        <a:ext cx="2710383" cy="1626230"/>
      </dsp:txXfrm>
    </dsp:sp>
    <dsp:sp modelId="{6108FC0E-2916-4E5B-B111-052C96A1FDF6}">
      <dsp:nvSpPr>
        <dsp:cNvPr id="0" name=""/>
        <dsp:cNvSpPr/>
      </dsp:nvSpPr>
      <dsp:spPr>
        <a:xfrm>
          <a:off x="7036430" y="1900550"/>
          <a:ext cx="2710383" cy="162623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Causal analysis found a small, uncertain risk reduction from shifting emotions toward positivity, driven mainly by sadness, joy, and fear.</a:t>
          </a:r>
          <a:endParaRPr lang="en-US" sz="1600" kern="1200" dirty="0"/>
        </a:p>
      </dsp:txBody>
      <dsp:txXfrm>
        <a:off x="7036430" y="1900550"/>
        <a:ext cx="2710383" cy="1626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DBB4B-87EB-4B45-8DB0-D2CE09D045E9}">
      <dsp:nvSpPr>
        <dsp:cNvPr id="0" name=""/>
        <dsp:cNvSpPr/>
      </dsp:nvSpPr>
      <dsp:spPr>
        <a:xfrm>
          <a:off x="0" y="58984"/>
          <a:ext cx="6403994" cy="954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Sentence-level emotion trajectories combined with rule-based keyword models show strong potential for early detection of postpartum depression risk.</a:t>
          </a:r>
          <a:endParaRPr lang="en-US" sz="1700" kern="1200"/>
        </a:p>
      </dsp:txBody>
      <dsp:txXfrm>
        <a:off x="46606" y="105590"/>
        <a:ext cx="6310782" cy="861508"/>
      </dsp:txXfrm>
    </dsp:sp>
    <dsp:sp modelId="{3B7B4E9F-9FDB-4363-B5BC-E62A40557C56}">
      <dsp:nvSpPr>
        <dsp:cNvPr id="0" name=""/>
        <dsp:cNvSpPr/>
      </dsp:nvSpPr>
      <dsp:spPr>
        <a:xfrm>
          <a:off x="0" y="1062664"/>
          <a:ext cx="6403994" cy="954720"/>
        </a:xfrm>
        <a:prstGeom prst="roundRect">
          <a:avLst/>
        </a:prstGeom>
        <a:gradFill rotWithShape="0">
          <a:gsLst>
            <a:gs pos="0">
              <a:schemeClr val="accent2">
                <a:hueOff val="287373"/>
                <a:satOff val="-4693"/>
                <a:lumOff val="294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287373"/>
                <a:satOff val="-4693"/>
                <a:lumOff val="294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Emotion arcs provide an interpretable view of emotional patterns and moderately align with human annotations.</a:t>
          </a:r>
          <a:endParaRPr lang="en-US" sz="1700" kern="1200"/>
        </a:p>
      </dsp:txBody>
      <dsp:txXfrm>
        <a:off x="46606" y="1109270"/>
        <a:ext cx="6310782" cy="861508"/>
      </dsp:txXfrm>
    </dsp:sp>
    <dsp:sp modelId="{917FB8C0-FB17-41CF-9D7C-33DB813AA992}">
      <dsp:nvSpPr>
        <dsp:cNvPr id="0" name=""/>
        <dsp:cNvSpPr/>
      </dsp:nvSpPr>
      <dsp:spPr>
        <a:xfrm>
          <a:off x="0" y="2066344"/>
          <a:ext cx="6403994" cy="954720"/>
        </a:xfrm>
        <a:prstGeom prst="roundRect">
          <a:avLst/>
        </a:prstGeom>
        <a:gradFill rotWithShape="0">
          <a:gsLst>
            <a:gs pos="0">
              <a:schemeClr val="accent2">
                <a:hueOff val="574745"/>
                <a:satOff val="-9386"/>
                <a:lumOff val="588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574745"/>
                <a:satOff val="-9386"/>
                <a:lumOff val="588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The system effectively identifies high-risk posts, particularly those with persistent negativity or explicit distress.</a:t>
          </a:r>
          <a:endParaRPr lang="en-US" sz="1700" kern="1200"/>
        </a:p>
      </dsp:txBody>
      <dsp:txXfrm>
        <a:off x="46606" y="2112950"/>
        <a:ext cx="6310782" cy="861508"/>
      </dsp:txXfrm>
    </dsp:sp>
    <dsp:sp modelId="{17D73EE7-C005-49FA-9E21-DAC7C3256514}">
      <dsp:nvSpPr>
        <dsp:cNvPr id="0" name=""/>
        <dsp:cNvSpPr/>
      </dsp:nvSpPr>
      <dsp:spPr>
        <a:xfrm>
          <a:off x="0" y="3070024"/>
          <a:ext cx="6403994" cy="954720"/>
        </a:xfrm>
        <a:prstGeom prst="roundRect">
          <a:avLst/>
        </a:prstGeom>
        <a:gradFill rotWithShape="0">
          <a:gsLst>
            <a:gs pos="0">
              <a:schemeClr val="accent2">
                <a:hueOff val="862118"/>
                <a:satOff val="-14079"/>
                <a:lumOff val="882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862118"/>
                <a:satOff val="-14079"/>
                <a:lumOff val="882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Simulated shifts toward positive language can lower predicted risk, emphasizing the role of emotional tone in screening.</a:t>
          </a:r>
          <a:endParaRPr lang="en-US" sz="1700" kern="1200"/>
        </a:p>
      </dsp:txBody>
      <dsp:txXfrm>
        <a:off x="46606" y="3116630"/>
        <a:ext cx="6310782" cy="861508"/>
      </dsp:txXfrm>
    </dsp:sp>
    <dsp:sp modelId="{6776A8FC-C7DC-4F55-9FCB-C59D6640AAE7}">
      <dsp:nvSpPr>
        <dsp:cNvPr id="0" name=""/>
        <dsp:cNvSpPr/>
      </dsp:nvSpPr>
      <dsp:spPr>
        <a:xfrm>
          <a:off x="0" y="4073704"/>
          <a:ext cx="6403994" cy="954720"/>
        </a:xfrm>
        <a:prstGeom prst="roundRect">
          <a:avLst/>
        </a:prstGeom>
        <a:gradFill rotWithShape="0">
          <a:gsLst>
            <a:gs pos="0">
              <a:schemeClr val="accent2">
                <a:hueOff val="1149490"/>
                <a:satOff val="-18772"/>
                <a:lumOff val="1176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1149490"/>
                <a:satOff val="-18772"/>
                <a:lumOff val="1176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Incorporating causal inference enables personalized insights, helping target individuals who benefit most from emotional improvement.</a:t>
          </a:r>
          <a:endParaRPr lang="en-US" sz="1700" kern="1200"/>
        </a:p>
      </dsp:txBody>
      <dsp:txXfrm>
        <a:off x="46606" y="4120310"/>
        <a:ext cx="6310782" cy="8615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1C14AF-118D-40C8-9447-3267E22DA669}">
      <dsp:nvSpPr>
        <dsp:cNvPr id="0" name=""/>
        <dsp:cNvSpPr/>
      </dsp:nvSpPr>
      <dsp:spPr>
        <a:xfrm>
          <a:off x="0" y="3480"/>
          <a:ext cx="1126634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B57F806-6F82-445F-82CB-5CFB51D47EA1}">
      <dsp:nvSpPr>
        <dsp:cNvPr id="0" name=""/>
        <dsp:cNvSpPr/>
      </dsp:nvSpPr>
      <dsp:spPr>
        <a:xfrm>
          <a:off x="0" y="3480"/>
          <a:ext cx="11266349" cy="1349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Lexicon-Based Emotion Detection: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</a:t>
          </a:r>
          <a:r>
            <a:rPr lang="en-US" sz="14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NRCLex</a:t>
          </a:r>
          <a:r>
            <a:rPr lang="en-US" sz="14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is lightweight and interpretable, but not robust to : Informal language, sarcasm, idioms, </a:t>
          </a:r>
          <a:r>
            <a:rPr lang="en-US" sz="14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metophors</a:t>
          </a:r>
          <a:r>
            <a:rPr lang="en-US" sz="14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It leads to misclassification or oversimplification of nuanced posts.</a:t>
          </a:r>
          <a:b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480"/>
        <a:ext cx="11266349" cy="1349233"/>
      </dsp:txXfrm>
    </dsp:sp>
    <dsp:sp modelId="{3377E026-DB04-4310-ABDB-81494CF79F20}">
      <dsp:nvSpPr>
        <dsp:cNvPr id="0" name=""/>
        <dsp:cNvSpPr/>
      </dsp:nvSpPr>
      <dsp:spPr>
        <a:xfrm>
          <a:off x="0" y="1352714"/>
          <a:ext cx="11266349" cy="0"/>
        </a:xfrm>
        <a:prstGeom prst="line">
          <a:avLst/>
        </a:prstGeom>
        <a:solidFill>
          <a:schemeClr val="accent5">
            <a:hueOff val="775848"/>
            <a:satOff val="2585"/>
            <a:lumOff val="2941"/>
            <a:alphaOff val="0"/>
          </a:schemeClr>
        </a:solidFill>
        <a:ln w="12700" cap="flat" cmpd="sng" algn="ctr">
          <a:solidFill>
            <a:schemeClr val="accent5">
              <a:hueOff val="775848"/>
              <a:satOff val="2585"/>
              <a:lumOff val="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1DC731-1C22-4185-B9F4-DCE4007DED9C}">
      <dsp:nvSpPr>
        <dsp:cNvPr id="0" name=""/>
        <dsp:cNvSpPr/>
      </dsp:nvSpPr>
      <dsp:spPr>
        <a:xfrm>
          <a:off x="0" y="1352714"/>
          <a:ext cx="11266349" cy="1349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Emotion Arc Classifier Performance</a:t>
          </a:r>
          <a:b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Struggles with dynamic arcs: </a:t>
          </a:r>
          <a:r>
            <a:rPr lang="en-US" sz="1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neg_to_pos</a:t>
          </a: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and </a:t>
          </a:r>
          <a:r>
            <a:rPr lang="en-US" sz="1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pos_to_neg</a:t>
          </a: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though perform better on stable arcs: </a:t>
          </a:r>
          <a:r>
            <a:rPr lang="en-US" sz="1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stable_pos</a:t>
          </a: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and </a:t>
          </a:r>
          <a:r>
            <a:rPr lang="en-US" sz="1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stable_neg</a:t>
          </a: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Sensitive to short, ambiguous, and mixed tones</a:t>
          </a:r>
        </a:p>
      </dsp:txBody>
      <dsp:txXfrm>
        <a:off x="0" y="1352714"/>
        <a:ext cx="11266349" cy="1349233"/>
      </dsp:txXfrm>
    </dsp:sp>
    <dsp:sp modelId="{85E121C5-0708-4B4D-B8A2-1BB0BA34BA29}">
      <dsp:nvSpPr>
        <dsp:cNvPr id="0" name=""/>
        <dsp:cNvSpPr/>
      </dsp:nvSpPr>
      <dsp:spPr>
        <a:xfrm>
          <a:off x="0" y="2554658"/>
          <a:ext cx="11266349" cy="0"/>
        </a:xfrm>
        <a:prstGeom prst="line">
          <a:avLst/>
        </a:prstGeom>
        <a:solidFill>
          <a:schemeClr val="accent5">
            <a:hueOff val="1551697"/>
            <a:satOff val="5170"/>
            <a:lumOff val="5882"/>
            <a:alphaOff val="0"/>
          </a:schemeClr>
        </a:solidFill>
        <a:ln w="12700" cap="flat" cmpd="sng" algn="ctr">
          <a:solidFill>
            <a:schemeClr val="accent5">
              <a:hueOff val="1551697"/>
              <a:satOff val="5170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FBAC51-DB04-421F-A2B6-0887D1EF6C39}">
      <dsp:nvSpPr>
        <dsp:cNvPr id="0" name=""/>
        <dsp:cNvSpPr/>
      </dsp:nvSpPr>
      <dsp:spPr>
        <a:xfrm>
          <a:off x="0" y="2701948"/>
          <a:ext cx="11266349" cy="1049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Simplicity of Rule-Based Risk Model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Relies on fixed keywords(</a:t>
          </a:r>
          <a:r>
            <a:rPr lang="en-US" sz="14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e.g</a:t>
          </a:r>
          <a:r>
            <a:rPr lang="en-US" sz="14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“suicidal”) and arc types.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</a:t>
          </a:r>
          <a:r>
            <a:rPr lang="en-US" sz="14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Tranparent</a:t>
          </a:r>
          <a:r>
            <a:rPr lang="en-US" sz="14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but rigid- fails to account for conflicting emotional signals.</a:t>
          </a:r>
        </a:p>
        <a:p>
          <a:pPr marL="0" lvl="0" indent="0" algn="l" defTabSz="533400"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701948"/>
        <a:ext cx="11266349" cy="1049447"/>
      </dsp:txXfrm>
    </dsp:sp>
    <dsp:sp modelId="{1945FAAD-0E5F-45C7-99BC-62F604C27177}">
      <dsp:nvSpPr>
        <dsp:cNvPr id="0" name=""/>
        <dsp:cNvSpPr/>
      </dsp:nvSpPr>
      <dsp:spPr>
        <a:xfrm>
          <a:off x="0" y="3751395"/>
          <a:ext cx="11266349" cy="0"/>
        </a:xfrm>
        <a:prstGeom prst="line">
          <a:avLst/>
        </a:prstGeom>
        <a:solidFill>
          <a:schemeClr val="accent5">
            <a:hueOff val="2327545"/>
            <a:satOff val="7755"/>
            <a:lumOff val="8823"/>
            <a:alphaOff val="0"/>
          </a:schemeClr>
        </a:solidFill>
        <a:ln w="12700" cap="flat" cmpd="sng" algn="ctr">
          <a:solidFill>
            <a:schemeClr val="accent5">
              <a:hueOff val="2327545"/>
              <a:satOff val="7755"/>
              <a:lumOff val="8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1C346EA-7280-456B-893D-559268A038EF}">
      <dsp:nvSpPr>
        <dsp:cNvPr id="0" name=""/>
        <dsp:cNvSpPr/>
      </dsp:nvSpPr>
      <dsp:spPr>
        <a:xfrm>
          <a:off x="0" y="3751395"/>
          <a:ext cx="11266349" cy="976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Causal Inference Sensitivity </a:t>
          </a:r>
          <a:br>
            <a:rPr lang="en-US" sz="1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n-US" sz="1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	</a:t>
          </a:r>
          <a:r>
            <a:rPr lang="en-US" sz="14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Causal Forest Model is vulnerable to – data sparsity, treatment imbalance, unobserved confounders and Interpretability is limited, especially in 	small and noisy data.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751395"/>
        <a:ext cx="11266349" cy="9766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859076-AB96-44EB-B7D8-8FFB45E04774}">
      <dsp:nvSpPr>
        <dsp:cNvPr id="0" name=""/>
        <dsp:cNvSpPr/>
      </dsp:nvSpPr>
      <dsp:spPr>
        <a:xfrm>
          <a:off x="1885" y="1223857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9DE5A-E466-4ADE-8BBE-B14CE04348F7}">
      <dsp:nvSpPr>
        <dsp:cNvPr id="0" name=""/>
        <dsp:cNvSpPr/>
      </dsp:nvSpPr>
      <dsp:spPr>
        <a:xfrm>
          <a:off x="1885" y="1926439"/>
          <a:ext cx="1582031" cy="874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1. Context-Aware Emotion Detection</a:t>
          </a:r>
          <a:endParaRPr lang="en-US" sz="1400" kern="1200"/>
        </a:p>
      </dsp:txBody>
      <dsp:txXfrm>
        <a:off x="1885" y="1926439"/>
        <a:ext cx="1582031" cy="874954"/>
      </dsp:txXfrm>
    </dsp:sp>
    <dsp:sp modelId="{B3A0D9B1-1D0C-4F40-92E3-A812EC091383}">
      <dsp:nvSpPr>
        <dsp:cNvPr id="0" name=""/>
        <dsp:cNvSpPr/>
      </dsp:nvSpPr>
      <dsp:spPr>
        <a:xfrm>
          <a:off x="1885" y="2870636"/>
          <a:ext cx="1582031" cy="1815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Replace lexicon-based methods with transformers (e.g., </a:t>
          </a: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MentalRoBERTa</a:t>
          </a: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Capture nuanced, sarcastic, and context-sensitive emotional language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85" y="2870636"/>
        <a:ext cx="1582031" cy="1815352"/>
      </dsp:txXfrm>
    </dsp:sp>
    <dsp:sp modelId="{658E66C6-C0FE-4288-895D-AE2248815413}">
      <dsp:nvSpPr>
        <dsp:cNvPr id="0" name=""/>
        <dsp:cNvSpPr/>
      </dsp:nvSpPr>
      <dsp:spPr>
        <a:xfrm>
          <a:off x="1860771" y="1223857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91DC4-60B0-4DE3-B791-D98D138EC16B}">
      <dsp:nvSpPr>
        <dsp:cNvPr id="0" name=""/>
        <dsp:cNvSpPr/>
      </dsp:nvSpPr>
      <dsp:spPr>
        <a:xfrm>
          <a:off x="1860771" y="1926439"/>
          <a:ext cx="1582031" cy="874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2. Neural Modeling of Emotion Arcs</a:t>
          </a:r>
          <a:endParaRPr lang="en-US" sz="1400" kern="1200"/>
        </a:p>
      </dsp:txBody>
      <dsp:txXfrm>
        <a:off x="1860771" y="1926439"/>
        <a:ext cx="1582031" cy="874954"/>
      </dsp:txXfrm>
    </dsp:sp>
    <dsp:sp modelId="{304B31EA-3E4A-4381-BAE1-F2565853A983}">
      <dsp:nvSpPr>
        <dsp:cNvPr id="0" name=""/>
        <dsp:cNvSpPr/>
      </dsp:nvSpPr>
      <dsp:spPr>
        <a:xfrm>
          <a:off x="1860771" y="2870636"/>
          <a:ext cx="1582031" cy="1815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Move beyond rule-based arcs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RNNs, GRUs, or Transformers to learn dynamic emotion patterns (e.g., escalation, recovery)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60771" y="2870636"/>
        <a:ext cx="1582031" cy="1815352"/>
      </dsp:txXfrm>
    </dsp:sp>
    <dsp:sp modelId="{974BEEDB-C837-404E-815D-AB56F88F78CF}">
      <dsp:nvSpPr>
        <dsp:cNvPr id="0" name=""/>
        <dsp:cNvSpPr/>
      </dsp:nvSpPr>
      <dsp:spPr>
        <a:xfrm>
          <a:off x="3719658" y="1223857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8E94A-723F-4BF9-9061-9834B5F69D96}">
      <dsp:nvSpPr>
        <dsp:cNvPr id="0" name=""/>
        <dsp:cNvSpPr/>
      </dsp:nvSpPr>
      <dsp:spPr>
        <a:xfrm>
          <a:off x="3719658" y="1926439"/>
          <a:ext cx="1582031" cy="874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3. Smarter Risk Prediction</a:t>
          </a:r>
          <a:endParaRPr lang="en-US" sz="1400" kern="1200"/>
        </a:p>
      </dsp:txBody>
      <dsp:txXfrm>
        <a:off x="3719658" y="1926439"/>
        <a:ext cx="1582031" cy="874954"/>
      </dsp:txXfrm>
    </dsp:sp>
    <dsp:sp modelId="{BCD9B3B3-0796-4C6C-A8CC-9E7861F09E55}">
      <dsp:nvSpPr>
        <dsp:cNvPr id="0" name=""/>
        <dsp:cNvSpPr/>
      </dsp:nvSpPr>
      <dsp:spPr>
        <a:xfrm>
          <a:off x="3719658" y="2870636"/>
          <a:ext cx="1582031" cy="1815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Upgrade from rigid rules to learned models combining arcs, keywords, and embeddings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Better handle conflicting signals (e.g., hope vs. harm)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719658" y="2870636"/>
        <a:ext cx="1582031" cy="1815352"/>
      </dsp:txXfrm>
    </dsp:sp>
    <dsp:sp modelId="{2F6ED6D6-1806-458C-B537-C2DF3B43527B}">
      <dsp:nvSpPr>
        <dsp:cNvPr id="0" name=""/>
        <dsp:cNvSpPr/>
      </dsp:nvSpPr>
      <dsp:spPr>
        <a:xfrm>
          <a:off x="5578545" y="1223857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8830E-B5C3-4233-829D-6625B2EF19C3}">
      <dsp:nvSpPr>
        <dsp:cNvPr id="0" name=""/>
        <dsp:cNvSpPr/>
      </dsp:nvSpPr>
      <dsp:spPr>
        <a:xfrm>
          <a:off x="5578545" y="1926439"/>
          <a:ext cx="1582031" cy="874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4. Longitudinal &amp; Personalized Analysis</a:t>
          </a:r>
          <a:endParaRPr lang="en-US" sz="1400" kern="1200"/>
        </a:p>
      </dsp:txBody>
      <dsp:txXfrm>
        <a:off x="5578545" y="1926439"/>
        <a:ext cx="1582031" cy="874954"/>
      </dsp:txXfrm>
    </dsp:sp>
    <dsp:sp modelId="{AAAA8B59-9CF3-408B-A8EE-56F9CCD769D8}">
      <dsp:nvSpPr>
        <dsp:cNvPr id="0" name=""/>
        <dsp:cNvSpPr/>
      </dsp:nvSpPr>
      <dsp:spPr>
        <a:xfrm>
          <a:off x="5578545" y="2870636"/>
          <a:ext cx="1582031" cy="1815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Track multiple posts over time per user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personalized baselines to detect emotional shifts more accurately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578545" y="2870636"/>
        <a:ext cx="1582031" cy="1815352"/>
      </dsp:txXfrm>
    </dsp:sp>
    <dsp:sp modelId="{E27E08FD-ACE0-41C3-8EAD-BD6989DED5B2}">
      <dsp:nvSpPr>
        <dsp:cNvPr id="0" name=""/>
        <dsp:cNvSpPr/>
      </dsp:nvSpPr>
      <dsp:spPr>
        <a:xfrm>
          <a:off x="7437431" y="1223857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E76F8-54F2-42E0-8EFD-2F60F6263DF1}">
      <dsp:nvSpPr>
        <dsp:cNvPr id="0" name=""/>
        <dsp:cNvSpPr/>
      </dsp:nvSpPr>
      <dsp:spPr>
        <a:xfrm>
          <a:off x="7437431" y="1926439"/>
          <a:ext cx="1582031" cy="874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5. Larger &amp; Clinically Validated Datasets</a:t>
          </a:r>
          <a:endParaRPr lang="en-US" sz="1400" kern="1200"/>
        </a:p>
      </dsp:txBody>
      <dsp:txXfrm>
        <a:off x="7437431" y="1926439"/>
        <a:ext cx="1582031" cy="874954"/>
      </dsp:txXfrm>
    </dsp:sp>
    <dsp:sp modelId="{A15023F4-B4B3-454D-B4B7-D9D3E510715F}">
      <dsp:nvSpPr>
        <dsp:cNvPr id="0" name=""/>
        <dsp:cNvSpPr/>
      </dsp:nvSpPr>
      <dsp:spPr>
        <a:xfrm>
          <a:off x="7437431" y="2870636"/>
          <a:ext cx="1582031" cy="1815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Expand to larger, diverse datasets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Include clinical or crowd-sourced labels for better generalization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437431" y="2870636"/>
        <a:ext cx="1582031" cy="1815352"/>
      </dsp:txXfrm>
    </dsp:sp>
    <dsp:sp modelId="{846270DA-AF4E-4BF0-9FBE-A137C2FA79BF}">
      <dsp:nvSpPr>
        <dsp:cNvPr id="0" name=""/>
        <dsp:cNvSpPr/>
      </dsp:nvSpPr>
      <dsp:spPr>
        <a:xfrm>
          <a:off x="9296318" y="1223857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8870A-F561-44C6-9380-9BBB6CACCD41}">
      <dsp:nvSpPr>
        <dsp:cNvPr id="0" name=""/>
        <dsp:cNvSpPr/>
      </dsp:nvSpPr>
      <dsp:spPr>
        <a:xfrm>
          <a:off x="9296318" y="1926439"/>
          <a:ext cx="1582031" cy="874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6. Human Oversight &amp; Ethics</a:t>
          </a:r>
          <a:endParaRPr lang="en-US" sz="1400" kern="1200"/>
        </a:p>
      </dsp:txBody>
      <dsp:txXfrm>
        <a:off x="9296318" y="1926439"/>
        <a:ext cx="1582031" cy="874954"/>
      </dsp:txXfrm>
    </dsp:sp>
    <dsp:sp modelId="{C8CCBA2E-3096-48C5-A1FE-635A9DCF02E3}">
      <dsp:nvSpPr>
        <dsp:cNvPr id="0" name=""/>
        <dsp:cNvSpPr/>
      </dsp:nvSpPr>
      <dsp:spPr>
        <a:xfrm>
          <a:off x="9296318" y="2870636"/>
          <a:ext cx="1582031" cy="1815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Integrate human-in-the-loop for critical posts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Ensure privacy, consent, and ethical safeguards in deployment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9296318" y="2870636"/>
        <a:ext cx="1582031" cy="1815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20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0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7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4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36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3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8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4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88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11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7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48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3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2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25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  <p:sldLayoutId id="2147483973" r:id="rId14"/>
    <p:sldLayoutId id="2147483974" r:id="rId15"/>
    <p:sldLayoutId id="2147483975" r:id="rId16"/>
    <p:sldLayoutId id="214748397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isdomWizard99/HRProject/blob/main/HRP_code.ipynb" TargetMode="External"/><Relationship Id="rId2" Type="http://schemas.openxmlformats.org/officeDocument/2006/relationships/hyperlink" Target="https://utexas.hosted.panopto.com/Panopto/Pages/Viewer.aspx?id=92aca50d-56ac-4e31-adc5-b33400381f5d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7244538-290E-40DA-A93A-14BB3E6CF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1999" cy="45437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8F431D-0159-C9D1-5D97-6FD92999D1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615888" y="673240"/>
            <a:ext cx="5951914" cy="3446373"/>
          </a:xfrm>
          <a:prstGeom prst="rect">
            <a:avLst/>
          </a:prstGeom>
          <a:noFill/>
          <a:ln w="19050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DETECTION AND INTERVENTION SIMULATION FOR POSTPARTUM DEPRESSION RISK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2122AC-9856-68C2-D737-5E82DE81A8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632265" y="4119613"/>
            <a:ext cx="5935535" cy="2058765"/>
          </a:xfrm>
          <a:prstGeom prst="rect">
            <a:avLst/>
          </a:prstGeom>
          <a:noFill/>
          <a:ln w="19050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Integrating Sentence-Level Emotion Modeling with Causal Analysis of Online Narratives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-Deepali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Dange(AIHC)</a:t>
            </a:r>
            <a:br>
              <a:rPr kumimoji="0" lang="en-US" altLang="en-US" b="0" i="0" u="none" strike="noStrike" cap="none" normalizeH="0" dirty="0">
                <a:ln>
                  <a:noFill/>
                </a:ln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Panopto Video Link: </a:t>
            </a:r>
            <a:br>
              <a:rPr lang="en-US" b="1" dirty="0"/>
            </a:br>
            <a:r>
              <a:rPr lang="en-US" b="1" i="1" u="sng" dirty="0">
                <a:hlinkClick r:id="rId2"/>
              </a:rPr>
              <a:t>https://utexas.hosted.panopto.com/Panopto/Pages/Viewer.aspx?id=92aca50d-56ac-4e31-adc5-b33400381f5d</a:t>
            </a:r>
            <a:endParaRPr lang="en-US" dirty="0"/>
          </a:p>
          <a:p>
            <a:r>
              <a:rPr lang="en-US" b="1" dirty="0"/>
              <a:t>GitHub code link: </a:t>
            </a:r>
            <a:r>
              <a:rPr lang="en-US" b="1" i="1" u="sng" dirty="0">
                <a:hlinkClick r:id="rId3"/>
              </a:rPr>
              <a:t>https://github.com/WisdomWizard99/HRProject/blob/main/HRP_code.ipynb</a:t>
            </a:r>
            <a:endParaRPr lang="en-US" dirty="0"/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1DF3B3-9DBC-445D-AE4E-A62E5A9B8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96638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erson holding a baby&#10;&#10;AI-generated content may be incorrect.">
            <a:extLst>
              <a:ext uri="{FF2B5EF4-FFF2-40B4-BE49-F238E27FC236}">
                <a16:creationId xmlns:a16="http://schemas.microsoft.com/office/drawing/2014/main" id="{7817610D-3307-3910-CBDE-C904AB7F3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5" r="23905"/>
          <a:stretch>
            <a:fillRect/>
          </a:stretch>
        </p:blipFill>
        <p:spPr>
          <a:xfrm>
            <a:off x="-4" y="10"/>
            <a:ext cx="4654291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51F80E8-0CAC-410E-B59A-29FDDC357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6782" y="-1"/>
            <a:ext cx="4245218" cy="53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6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3D17-1963-FF49-FD4D-2C5160D0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61" y="607039"/>
            <a:ext cx="6085754" cy="79914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dirty="0"/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0F7F06-00C7-2478-227C-0A0E0D8627B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17603" y="1995711"/>
            <a:ext cx="1109382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Postpartum depression (PPD)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maternal mental health crisis, affecting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~1 in 7 new mothers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within the first year after childbirth.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Severe consequences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Increased risk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self-harm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impaired infant development, disrupted family stability, and long-term mental health disorders.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Alarming gap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Up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 of cases go undiagnosed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often due to stigma, fear of judgment, and difficulty articulating emotional pain.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 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Online forums (e.g., Reddit) reveal raw, unfiltered emotional struggles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real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offering a window for earlier detection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escalation to crisis.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goal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Transform these unstructured narratives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early-warning signals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emotion trajectory modeling and causal analysis.</a:t>
            </a:r>
          </a:p>
        </p:txBody>
      </p:sp>
    </p:spTree>
    <p:extLst>
      <p:ext uri="{BB962C8B-B14F-4D97-AF65-F5344CB8AC3E}">
        <p14:creationId xmlns:p14="http://schemas.microsoft.com/office/powerpoint/2010/main" val="248199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58C4-F2FA-8EFC-EA9A-7D66D41E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023" y="415209"/>
            <a:ext cx="7018724" cy="795773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 - Workflow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88CD8DB2-6A5E-C8E9-922A-D4C4D30B6295}"/>
              </a:ext>
            </a:extLst>
          </p:cNvPr>
          <p:cNvSpPr/>
          <p:nvPr/>
        </p:nvSpPr>
        <p:spPr>
          <a:xfrm>
            <a:off x="1221247" y="1718336"/>
            <a:ext cx="2043592" cy="102701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Extraction &amp;Preprocessing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C111DC53-F8B3-D17A-4BEC-20F6D738E8D7}"/>
              </a:ext>
            </a:extLst>
          </p:cNvPr>
          <p:cNvSpPr/>
          <p:nvPr/>
        </p:nvSpPr>
        <p:spPr>
          <a:xfrm>
            <a:off x="6394680" y="1773569"/>
            <a:ext cx="1957403" cy="90623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Trajectory Labeling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11A1E77-EF71-BD2A-68D2-535CA057624F}"/>
              </a:ext>
            </a:extLst>
          </p:cNvPr>
          <p:cNvSpPr/>
          <p:nvPr/>
        </p:nvSpPr>
        <p:spPr>
          <a:xfrm>
            <a:off x="8949441" y="1773569"/>
            <a:ext cx="1946264" cy="90623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Rule based Risk Prediction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CDD4343-C72B-7A00-9E26-F97762673F79}"/>
              </a:ext>
            </a:extLst>
          </p:cNvPr>
          <p:cNvSpPr/>
          <p:nvPr/>
        </p:nvSpPr>
        <p:spPr>
          <a:xfrm>
            <a:off x="8949441" y="3230129"/>
            <a:ext cx="1946264" cy="90623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Causal Inference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D074059-D81E-1A4D-2534-5BFE53A55CDA}"/>
              </a:ext>
            </a:extLst>
          </p:cNvPr>
          <p:cNvSpPr/>
          <p:nvPr/>
        </p:nvSpPr>
        <p:spPr>
          <a:xfrm>
            <a:off x="3864193" y="1773569"/>
            <a:ext cx="1933129" cy="90623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Emotion Trajectory Extraction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71CDCC2-5F9D-CC9B-9D88-534C93FAAA0F}"/>
              </a:ext>
            </a:extLst>
          </p:cNvPr>
          <p:cNvSpPr/>
          <p:nvPr/>
        </p:nvSpPr>
        <p:spPr>
          <a:xfrm>
            <a:off x="3264838" y="2160193"/>
            <a:ext cx="621633" cy="2577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BE6B0CE-2F3C-2F9C-73DF-5D5D2326BC0C}"/>
              </a:ext>
            </a:extLst>
          </p:cNvPr>
          <p:cNvSpPr/>
          <p:nvPr/>
        </p:nvSpPr>
        <p:spPr>
          <a:xfrm rot="5400000">
            <a:off x="9653977" y="2826091"/>
            <a:ext cx="550325" cy="2577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E0A734A-5DD6-EF22-0C5F-C92223125D54}"/>
              </a:ext>
            </a:extLst>
          </p:cNvPr>
          <p:cNvSpPr/>
          <p:nvPr/>
        </p:nvSpPr>
        <p:spPr>
          <a:xfrm>
            <a:off x="8346514" y="2180648"/>
            <a:ext cx="621633" cy="2577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F6B62CD-2514-0D95-F237-1F959FA02AF6}"/>
              </a:ext>
            </a:extLst>
          </p:cNvPr>
          <p:cNvSpPr/>
          <p:nvPr/>
        </p:nvSpPr>
        <p:spPr>
          <a:xfrm>
            <a:off x="5802892" y="2207242"/>
            <a:ext cx="621633" cy="2577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A3F63C7-17CC-E80E-A8CB-20AFB20C9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53" y="3974146"/>
            <a:ext cx="8004132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extracted from Public Reddit posts from postpartum communities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Sentence tokenization,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stopword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removal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 Extraction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NRCLex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assigns dominant emotion to each sentence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Trajectory Labeling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sad → joy =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neg_to_pos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Flat sadness =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stable_neg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Prediction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Rule-based model combines trajectory + keyword indicators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Inference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CausalForestDML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estimates if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neg_to_pos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shifts reduce high-risk outcomes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6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A017-AA05-E83B-C889-DEAAD2D9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450" y="590459"/>
            <a:ext cx="7546931" cy="8492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Dataset Extraction and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6A938F-B079-B043-5749-6CB0FE4269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9983" y="2265449"/>
            <a:ext cx="11134165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Public Reddit posts from postpartum communities.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Anonymous but genuine accounts of post-pregnancy challenges -  ranging from daily stress to severe mental health crisis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rich mix of formal and informal, with community specific jargon, acronyms, slangs and emotional intensity.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Annotations: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neg_to_pos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Emotional recovery arc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pos_to_neg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Emotional decline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stable_neg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Persistent distress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stable_pos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Sustained positivity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F1B64-28C8-F331-3320-7EBE5A482F12}"/>
              </a:ext>
            </a:extLst>
          </p:cNvPr>
          <p:cNvSpPr txBox="1"/>
          <p:nvPr/>
        </p:nvSpPr>
        <p:spPr>
          <a:xfrm>
            <a:off x="5787726" y="3916881"/>
            <a:ext cx="56116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Risk Label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→ Low risk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→ Moderate risk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→ High risk</a:t>
            </a:r>
          </a:p>
        </p:txBody>
      </p:sp>
    </p:spTree>
    <p:extLst>
      <p:ext uri="{BB962C8B-B14F-4D97-AF65-F5344CB8AC3E}">
        <p14:creationId xmlns:p14="http://schemas.microsoft.com/office/powerpoint/2010/main" val="1420275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9B31-F508-0B56-5B68-C1989CF0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Emotion Trajectory Extraction</a:t>
            </a:r>
            <a:br>
              <a:rPr lang="en-US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89440-A442-C7E5-371C-5BB11669E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 Detection Tool: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NRCLex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(8 core emotions + polarity)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 Sentence Analysis: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Tokenize → Score → Identify dominant emotion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Trajectory: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Sequence of dominant emotions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Valence Scoring: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joy = +2, sadness = -2, etc.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Emotional timeline per post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B84BD8-733B-39EF-7291-A1CAA600A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90" y="4442744"/>
            <a:ext cx="11972809" cy="144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6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13B2-9763-868F-DD75-C1AC53753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380" y="764373"/>
            <a:ext cx="6737819" cy="6532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Trajectory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E8B7E-C9CF-2C4F-66B2-FE74544F9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87" y="1417628"/>
            <a:ext cx="10843413" cy="4801058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Trajectory Types: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neg_to_pos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pos_to_neg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stable_neg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stable_pos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matrix vs manual annotations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Precision, recall, agreement rate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 Arc Plot: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Visualizes sentence-level emotional valence across a post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X-axis: Sentence number; Y-axis: valence from negative to positive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Turning Points: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emotional reappraisal moments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4099E-BD82-0511-1D31-F0BD08EF9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922" y="1534229"/>
            <a:ext cx="5663765" cy="22257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BEE99E-60DE-2D8C-CC30-1D0E7F64D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415" y="4755609"/>
            <a:ext cx="5796778" cy="192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4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045E-6431-5406-9B1B-7AA05B1D3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9" y="703004"/>
            <a:ext cx="11623312" cy="806677"/>
          </a:xfrm>
        </p:spPr>
        <p:txBody>
          <a:bodyPr/>
          <a:lstStyle/>
          <a:p>
            <a:r>
              <a:rPr lang="en-US" b="1" dirty="0"/>
              <a:t>Evaluating Emotion Arc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B1479-44F5-C467-C51C-C7BE39A9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15" y="1755493"/>
            <a:ext cx="11260899" cy="5046139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 emotional arcs of posts using valence mapping of NRC emotions.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AACAE4-0A53-5B78-632B-701200E10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15" y="2105561"/>
            <a:ext cx="582044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each sentence’s emotion to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valence score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 each post into one of four arc types: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neg_to_pos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pos_to_neg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stable_neg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stable_pos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352707-AD6B-7819-EE3E-F0766A5C4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149901"/>
              </p:ext>
            </p:extLst>
          </p:nvPr>
        </p:nvGraphicFramePr>
        <p:xfrm>
          <a:off x="657615" y="3803835"/>
          <a:ext cx="6459035" cy="23300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1807">
                  <a:extLst>
                    <a:ext uri="{9D8B030D-6E8A-4147-A177-3AD203B41FA5}">
                      <a16:colId xmlns:a16="http://schemas.microsoft.com/office/drawing/2014/main" val="470823593"/>
                    </a:ext>
                  </a:extLst>
                </a:gridCol>
                <a:gridCol w="1291807">
                  <a:extLst>
                    <a:ext uri="{9D8B030D-6E8A-4147-A177-3AD203B41FA5}">
                      <a16:colId xmlns:a16="http://schemas.microsoft.com/office/drawing/2014/main" val="278581077"/>
                    </a:ext>
                  </a:extLst>
                </a:gridCol>
                <a:gridCol w="1291807">
                  <a:extLst>
                    <a:ext uri="{9D8B030D-6E8A-4147-A177-3AD203B41FA5}">
                      <a16:colId xmlns:a16="http://schemas.microsoft.com/office/drawing/2014/main" val="1181147725"/>
                    </a:ext>
                  </a:extLst>
                </a:gridCol>
                <a:gridCol w="1291807">
                  <a:extLst>
                    <a:ext uri="{9D8B030D-6E8A-4147-A177-3AD203B41FA5}">
                      <a16:colId xmlns:a16="http://schemas.microsoft.com/office/drawing/2014/main" val="594875961"/>
                    </a:ext>
                  </a:extLst>
                </a:gridCol>
                <a:gridCol w="1291807">
                  <a:extLst>
                    <a:ext uri="{9D8B030D-6E8A-4147-A177-3AD203B41FA5}">
                      <a16:colId xmlns:a16="http://schemas.microsoft.com/office/drawing/2014/main" val="598279289"/>
                    </a:ext>
                  </a:extLst>
                </a:gridCol>
              </a:tblGrid>
              <a:tr h="46574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Label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Precision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Recall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F1-score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Support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3510186"/>
                  </a:ext>
                </a:extLst>
              </a:tr>
              <a:tr h="4660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neg_to_pos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0.44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0.40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0.42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0520802"/>
                  </a:ext>
                </a:extLst>
              </a:tr>
              <a:tr h="4660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pos_to_neg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0.00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0531571"/>
                  </a:ext>
                </a:extLst>
              </a:tr>
              <a:tr h="4660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stable_neg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0.74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0.65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0.69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72029166"/>
                  </a:ext>
                </a:extLst>
              </a:tr>
              <a:tr h="4660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stable_pos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0.64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0.64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0.64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11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8328122"/>
                  </a:ext>
                </a:extLst>
              </a:tr>
            </a:tbl>
          </a:graphicData>
        </a:graphic>
      </p:graphicFrame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81F83D31-222E-676C-BD0B-A3AAE4C44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235" y="2876676"/>
            <a:ext cx="4028166" cy="31162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4749FC-9AE0-2FB1-1EB3-B283CC84F5FB}"/>
              </a:ext>
            </a:extLst>
          </p:cNvPr>
          <p:cNvSpPr txBox="1"/>
          <p:nvPr/>
        </p:nvSpPr>
        <p:spPr>
          <a:xfrm>
            <a:off x="1019000" y="3377798"/>
            <a:ext cx="6097044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Accuracy -</a:t>
            </a: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55%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514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975D-BC3E-66F3-F235-3C04DC659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Rule-Based Risk Prediction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8FD3B-1415-CB57-0549-D24C6DE96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 for Risk Scoring: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Emotional trajectory type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High-risk keywords (e.g., “hopeless,” “suicide”)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Levels: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= High risk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= Moderate risk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= Low risk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Explainable and actionable risk labels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0088AA-8640-750D-0BEC-C51DB9DC4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819583"/>
              </p:ext>
            </p:extLst>
          </p:nvPr>
        </p:nvGraphicFramePr>
        <p:xfrm>
          <a:off x="6204418" y="3025498"/>
          <a:ext cx="542503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258">
                  <a:extLst>
                    <a:ext uri="{9D8B030D-6E8A-4147-A177-3AD203B41FA5}">
                      <a16:colId xmlns:a16="http://schemas.microsoft.com/office/drawing/2014/main" val="924998661"/>
                    </a:ext>
                  </a:extLst>
                </a:gridCol>
                <a:gridCol w="1356258">
                  <a:extLst>
                    <a:ext uri="{9D8B030D-6E8A-4147-A177-3AD203B41FA5}">
                      <a16:colId xmlns:a16="http://schemas.microsoft.com/office/drawing/2014/main" val="435913908"/>
                    </a:ext>
                  </a:extLst>
                </a:gridCol>
                <a:gridCol w="1356258">
                  <a:extLst>
                    <a:ext uri="{9D8B030D-6E8A-4147-A177-3AD203B41FA5}">
                      <a16:colId xmlns:a16="http://schemas.microsoft.com/office/drawing/2014/main" val="227289828"/>
                    </a:ext>
                  </a:extLst>
                </a:gridCol>
                <a:gridCol w="1356258">
                  <a:extLst>
                    <a:ext uri="{9D8B030D-6E8A-4147-A177-3AD203B41FA5}">
                      <a16:colId xmlns:a16="http://schemas.microsoft.com/office/drawing/2014/main" val="3866213684"/>
                    </a:ext>
                  </a:extLst>
                </a:gridCol>
              </a:tblGrid>
              <a:tr h="242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Post Excerpt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Trajectory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Keywords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 Score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995605"/>
                  </a:ext>
                </a:extLst>
              </a:tr>
              <a:tr h="7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“I feel numb every day. I’ve thought of ending it.”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stable_neg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suicide, numb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(High)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577975"/>
                  </a:ext>
                </a:extLst>
              </a:tr>
              <a:tr h="7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“I’m anxious but hopeful about tomorrow.”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neg_to_pos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anxious, hopeful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(Moderate)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88884"/>
                  </a:ext>
                </a:extLst>
              </a:tr>
              <a:tr h="581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“Just tired. But overall, I’m okay.”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stable_pos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(Low)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32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03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AEF7-5EF3-BFF6-9E43-1466F357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428" y="298544"/>
            <a:ext cx="8259772" cy="104543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Intervention Simulation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24CAD-EF11-F52F-A723-105E5512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467" y="1476541"/>
            <a:ext cx="10820400" cy="4024125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 if hopeful language reduces risk</a:t>
            </a: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cognitive reappraisal statement to post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Re-evaluate risk score</a:t>
            </a: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Additions: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know this will pass.”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“I’m learning to cope.”</a:t>
            </a: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Change in predicted risk score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9A30DB-D24B-AB25-C230-946634882FB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2762" y="4959017"/>
            <a:ext cx="8972167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E.g.  Original Ending of a post: “I cry every night and I don’t think I’m a good mom.”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         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Original Risk: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 2 (High)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lin Sans FB Demi" panose="020E0802020502020306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          Modified Ending with hopeful sentence: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	“I cry every night and I don’t think I’m a good mom.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	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But I know I’m trying my best, and I have people who love me. I’ll talk to my doctor.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”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          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New Risk: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</a:rPr>
              <a:t> 1 (Moderate)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E9128F-C98F-C8EC-D0C2-7DF2CD238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125014"/>
              </p:ext>
            </p:extLst>
          </p:nvPr>
        </p:nvGraphicFramePr>
        <p:xfrm>
          <a:off x="374352" y="5001584"/>
          <a:ext cx="208280" cy="1552639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4226257723"/>
                    </a:ext>
                  </a:extLst>
                </a:gridCol>
              </a:tblGrid>
              <a:tr h="15526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06239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582425B-8C16-64C6-E176-AAD2CE36A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483" y="1853789"/>
            <a:ext cx="5259050" cy="254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2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DB18-C8DD-4F23-341C-A8F10C2FD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132" y="432147"/>
            <a:ext cx="8074067" cy="6648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Causal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74FD-A419-0D6B-8618-C952E943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745" y="1486841"/>
            <a:ext cx="10820400" cy="1379098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CausalForestDML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(from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econml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neg_to_pos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trajectory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High-risk classification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Covariates: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Emotion counts (NRC categories)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1DFBE9-D710-FAD6-0856-6685E28BB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786" y="2157368"/>
            <a:ext cx="3896679" cy="219099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3D8AE53-8F86-56F5-0629-7E95B242F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45" y="2865939"/>
            <a:ext cx="12956088" cy="2691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defTabSz="9144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Treatment Effect (ATE): –0.067</a:t>
            </a:r>
            <a:b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Small but uncertain reduction in risk</a:t>
            </a:r>
            <a:b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95% CI: [–0.345, 0.210]</a:t>
            </a:r>
          </a:p>
          <a:p>
            <a:pPr marL="228600" marR="0" lvl="0" indent="-228600" defTabSz="9144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 analysis:</a:t>
            </a:r>
            <a:b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Higher benefit variability observed in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stable_neg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neg_to_pos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groups</a:t>
            </a:r>
          </a:p>
          <a:p>
            <a:pPr marL="228600" marR="0" lvl="0" indent="-228600" defTabSz="9144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Emotion Drivers (Feature Importance):</a:t>
            </a:r>
            <a:b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Sadness (–), Trust (+), Fear (–), Joy (+)</a:t>
            </a:r>
          </a:p>
          <a:p>
            <a:pPr marL="228600" marR="0" lvl="0" indent="-228600" defTabSz="9144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sz="1600" b="1" dirty="0"/>
              <a:t>Example: User A</a:t>
            </a:r>
            <a:br>
              <a:rPr lang="en-US" sz="1600" dirty="0"/>
            </a:br>
            <a:r>
              <a:rPr lang="en-US" sz="1600" dirty="0"/>
              <a:t>→ Predicted risk before shift: </a:t>
            </a:r>
            <a:r>
              <a:rPr lang="en-US" sz="1600" b="1" dirty="0"/>
              <a:t>1.6</a:t>
            </a:r>
            <a:br>
              <a:rPr lang="en-US" sz="1600" dirty="0"/>
            </a:br>
            <a:r>
              <a:rPr lang="en-US" sz="1600" dirty="0"/>
              <a:t>→ After shift: </a:t>
            </a:r>
            <a:r>
              <a:rPr lang="en-US" sz="1600" b="1" dirty="0"/>
              <a:t>1.2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91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1CC2-36D7-A201-C3B7-4B3AB968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99" y="128875"/>
            <a:ext cx="11156907" cy="9328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Visualizing Causal Effects and Emotion Drivers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BB4F3-46EA-653F-AFA8-4A38CC3D8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775" y="1190561"/>
            <a:ext cx="5184328" cy="45569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Treatment Effects by Trajectory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E5325-ABE6-ABDF-B680-CBD0A387F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5347" y="1258067"/>
            <a:ext cx="5037894" cy="38819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Importance from Causal Forest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0E5F79-C62E-C8C0-008F-38CF9A8125D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3016" y="1892074"/>
            <a:ext cx="4363336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 for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comparing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of causal effect estimates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emotion trajectories -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how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neg_to_pos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pos_to_neg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stable categories differ in terms of impact on risk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that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shifting from negative to positive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the most favorable causal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ACF73C0-3478-2A69-B6BF-59B3CE94AD68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327157" y="1892074"/>
            <a:ext cx="523427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plot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emotions most strongly influence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model’s treatment effect estimation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influencers: sadness, trust, fear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drive the magnitude and direction of predicted risk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DE7051-6976-84D4-2C64-BC9CE57E8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16" y="3429000"/>
            <a:ext cx="4177210" cy="3114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15772F-B22F-D696-3931-62E85748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347" y="3292147"/>
            <a:ext cx="4811882" cy="325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20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C35B-A009-D41F-1C3A-94DE00781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b="1" dirty="0"/>
              <a:t>Results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378C313-27B4-02F5-2740-3EBADF5F60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254844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7115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0BD2399-7475-404C-BAC9-E55E1676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748104-6E76-4AD9-9940-82154F97E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43F81E-EB84-4CA4-3290-8988FC8F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sz="3200" b="1" dirty="0"/>
              <a:t>CONCLUSION</a:t>
            </a:r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BC33B34E-5CCC-3E08-B8E7-9FB65704B3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01583"/>
              </p:ext>
            </p:extLst>
          </p:nvPr>
        </p:nvGraphicFramePr>
        <p:xfrm>
          <a:off x="4678344" y="1127125"/>
          <a:ext cx="6403994" cy="508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1128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920BF-D323-CE21-FDC4-BCD97767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636" y="1273737"/>
            <a:ext cx="8610600" cy="6372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9E5255-0C40-D224-8D7A-7E7AF372C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350954"/>
              </p:ext>
            </p:extLst>
          </p:nvPr>
        </p:nvGraphicFramePr>
        <p:xfrm>
          <a:off x="263887" y="1969950"/>
          <a:ext cx="11266349" cy="4731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100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FF39-5B27-AEDC-D124-12048C15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330" y="2243580"/>
            <a:ext cx="3220038" cy="1319752"/>
          </a:xfrm>
        </p:spPr>
        <p:txBody>
          <a:bodyPr/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-YOU</a:t>
            </a:r>
          </a:p>
        </p:txBody>
      </p:sp>
    </p:spTree>
    <p:extLst>
      <p:ext uri="{BB962C8B-B14F-4D97-AF65-F5344CB8AC3E}">
        <p14:creationId xmlns:p14="http://schemas.microsoft.com/office/powerpoint/2010/main" val="2961162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4364-309D-8023-8ECF-400F1D7D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117" y="419197"/>
            <a:ext cx="8894164" cy="50979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AD1118-397D-788C-E694-2F7419822E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872467"/>
              </p:ext>
            </p:extLst>
          </p:nvPr>
        </p:nvGraphicFramePr>
        <p:xfrm>
          <a:off x="625965" y="791662"/>
          <a:ext cx="10880235" cy="5909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699179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3940</TotalTime>
  <Words>1573</Words>
  <Application>Microsoft Office PowerPoint</Application>
  <PresentationFormat>Widescreen</PresentationFormat>
  <Paragraphs>197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Berlin Sans FB Demi</vt:lpstr>
      <vt:lpstr>Calibri</vt:lpstr>
      <vt:lpstr>Century Gothic</vt:lpstr>
      <vt:lpstr>Times New Roman</vt:lpstr>
      <vt:lpstr>Wingdings</vt:lpstr>
      <vt:lpstr>Vapor Trail</vt:lpstr>
      <vt:lpstr>DETECTION AND INTERVENTION SIMULATION FOR POSTPARTUM DEPRESSION RISK</vt:lpstr>
      <vt:lpstr>Introduction</vt:lpstr>
      <vt:lpstr>Methodology - Workflow</vt:lpstr>
      <vt:lpstr>Dataset Extraction and PrePROCESSING</vt:lpstr>
      <vt:lpstr>Emotion Trajectory Extraction </vt:lpstr>
      <vt:lpstr>Trajectory Classification </vt:lpstr>
      <vt:lpstr>Evaluating Emotion Arc Classification</vt:lpstr>
      <vt:lpstr>Rule-Based Risk Prediction </vt:lpstr>
      <vt:lpstr>Intervention Simulation </vt:lpstr>
      <vt:lpstr>Causal Analysis </vt:lpstr>
      <vt:lpstr>Visualizing Causal Effects and Emotion Drivers</vt:lpstr>
      <vt:lpstr>Results</vt:lpstr>
      <vt:lpstr>CONCLUSION</vt:lpstr>
      <vt:lpstr>LIMITATIONS</vt:lpstr>
      <vt:lpstr>ThANK-YOU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Dange, Deepali</dc:creator>
  <cp:lastModifiedBy>Dange, Deepali</cp:lastModifiedBy>
  <cp:revision>40</cp:revision>
  <dcterms:created xsi:type="dcterms:W3CDTF">2025-08-05T02:35:19Z</dcterms:created>
  <dcterms:modified xsi:type="dcterms:W3CDTF">2025-08-09T03:51:27Z</dcterms:modified>
</cp:coreProperties>
</file>